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46"/>
  </p:notesMasterIdLst>
  <p:sldIdLst>
    <p:sldId id="256" r:id="rId2"/>
    <p:sldId id="326" r:id="rId3"/>
    <p:sldId id="416" r:id="rId4"/>
    <p:sldId id="432" r:id="rId5"/>
    <p:sldId id="434" r:id="rId6"/>
    <p:sldId id="435" r:id="rId7"/>
    <p:sldId id="433" r:id="rId8"/>
    <p:sldId id="440" r:id="rId9"/>
    <p:sldId id="438" r:id="rId10"/>
    <p:sldId id="437" r:id="rId11"/>
    <p:sldId id="391" r:id="rId12"/>
    <p:sldId id="404" r:id="rId13"/>
    <p:sldId id="405" r:id="rId14"/>
    <p:sldId id="406" r:id="rId15"/>
    <p:sldId id="421" r:id="rId16"/>
    <p:sldId id="420" r:id="rId17"/>
    <p:sldId id="446" r:id="rId18"/>
    <p:sldId id="455" r:id="rId19"/>
    <p:sldId id="441" r:id="rId20"/>
    <p:sldId id="430" r:id="rId21"/>
    <p:sldId id="439" r:id="rId22"/>
    <p:sldId id="428" r:id="rId23"/>
    <p:sldId id="460" r:id="rId24"/>
    <p:sldId id="442" r:id="rId25"/>
    <p:sldId id="431" r:id="rId26"/>
    <p:sldId id="448" r:id="rId27"/>
    <p:sldId id="445" r:id="rId28"/>
    <p:sldId id="417" r:id="rId29"/>
    <p:sldId id="453" r:id="rId30"/>
    <p:sldId id="452" r:id="rId31"/>
    <p:sldId id="419" r:id="rId32"/>
    <p:sldId id="423" r:id="rId33"/>
    <p:sldId id="444" r:id="rId34"/>
    <p:sldId id="414" r:id="rId35"/>
    <p:sldId id="450" r:id="rId36"/>
    <p:sldId id="451" r:id="rId37"/>
    <p:sldId id="456" r:id="rId38"/>
    <p:sldId id="449" r:id="rId39"/>
    <p:sldId id="424" r:id="rId40"/>
    <p:sldId id="411" r:id="rId41"/>
    <p:sldId id="459" r:id="rId42"/>
    <p:sldId id="400" r:id="rId43"/>
    <p:sldId id="457" r:id="rId44"/>
    <p:sldId id="45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CD16FF-0C18-435C-BD7F-DE45DBAE9203}">
          <p14:sldIdLst>
            <p14:sldId id="256"/>
            <p14:sldId id="326"/>
            <p14:sldId id="416"/>
            <p14:sldId id="432"/>
            <p14:sldId id="434"/>
            <p14:sldId id="435"/>
            <p14:sldId id="433"/>
            <p14:sldId id="440"/>
            <p14:sldId id="438"/>
            <p14:sldId id="437"/>
            <p14:sldId id="391"/>
            <p14:sldId id="404"/>
            <p14:sldId id="405"/>
            <p14:sldId id="406"/>
            <p14:sldId id="421"/>
            <p14:sldId id="420"/>
            <p14:sldId id="446"/>
            <p14:sldId id="455"/>
            <p14:sldId id="441"/>
            <p14:sldId id="430"/>
            <p14:sldId id="439"/>
            <p14:sldId id="428"/>
            <p14:sldId id="460"/>
            <p14:sldId id="442"/>
            <p14:sldId id="431"/>
            <p14:sldId id="448"/>
            <p14:sldId id="445"/>
            <p14:sldId id="417"/>
            <p14:sldId id="453"/>
            <p14:sldId id="452"/>
            <p14:sldId id="419"/>
            <p14:sldId id="423"/>
            <p14:sldId id="444"/>
            <p14:sldId id="414"/>
            <p14:sldId id="450"/>
            <p14:sldId id="451"/>
            <p14:sldId id="456"/>
            <p14:sldId id="449"/>
          </p14:sldIdLst>
        </p14:section>
        <p14:section name="Untitled Section" id="{617802FD-7BF7-476A-95B8-2C2F8F24C51D}">
          <p14:sldIdLst>
            <p14:sldId id="424"/>
            <p14:sldId id="411"/>
            <p14:sldId id="459"/>
            <p14:sldId id="400"/>
            <p14:sldId id="457"/>
            <p14:sldId id="4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095" autoAdjust="0"/>
    <p:restoredTop sz="92000" autoAdjust="0"/>
  </p:normalViewPr>
  <p:slideViewPr>
    <p:cSldViewPr snapToGrid="0">
      <p:cViewPr varScale="1">
        <p:scale>
          <a:sx n="56" d="100"/>
          <a:sy n="56" d="100"/>
        </p:scale>
        <p:origin x="219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327F0-CD87-4700-9AAA-0B2745E892D3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45DCC-5673-4C35-AE63-3E771D5DE3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74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23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45C5-CC85-42E4-B107-6868F6AD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9CA1D-8AA7-F499-BF62-A8F8B7A32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3B78A-C235-0BEB-43B6-0B6214D6E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7791B-EA6F-C708-DCBB-7F71B7FF4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538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DD98-4FB0-6DBA-8659-F8D60F56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2740B-48B1-5032-44AC-F04546DAC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145E5-0379-8DD6-F311-740EC80EC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C0AB2-0539-82A1-76DC-9A42B1AB0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80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E67A2-0632-959B-394D-2A4504DC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07817-E89A-5BB0-DC2B-E30418171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DEC76-67A3-0BAA-68D9-6C7FD0511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AF15F-A44A-55AB-58A2-44EA7F031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41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D36E-64DF-1E7F-2AAC-C1695B31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D4679-1DFF-EDF0-1DCE-E6CEAAB3D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22EAF-C5F1-6F1A-AA88-1D1A77D0E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96E3D-00AF-932F-DA75-4F68B35C2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077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F92F-CBBD-6179-85A1-D4031477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0BAB6-107A-18F2-EB38-2E951EC5E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CC52C-1C8C-E5C9-4D84-4136EFA67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D808B-7417-1B27-D1BA-778BC7B95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13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B287-9B74-0BB2-A5E4-9146625A6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C82DE-05EE-3357-6957-7541B4CCB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986F6-6596-69B0-5E32-B34167B74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52DB6-6FBA-6C60-0EEF-312D413D8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97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B15E-6FCE-4BE7-A367-32E8339E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B6DB6-F900-CB4C-29EA-5DD01AF47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6337A-CF43-E7F2-7C89-6147ECD3E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D56BB-319E-519F-6C62-676A2F7E1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041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9749-8434-4CC9-84A0-B6038165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0913D-3068-DC56-A556-0D480FD6F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09CA3-47DF-9FA1-9F9F-4FB867709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982A1-250E-5098-E26E-EDCA6CD98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99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516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46DF-3183-D2C0-3D34-763B03DB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ABA8D-7EC8-6BE1-B671-BD407755D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BF345-1C3E-D227-6622-2C141628C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D4F34-87E1-98AE-4354-C289D0007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53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69C4-FDBA-58C3-B527-07152050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CFEBA-E5F5-4FFE-F099-2427823B2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E233E-F2E8-38B8-ED86-6CD34CE15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568D-4166-D08D-31D9-E4D8B0750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211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75FE-6B35-8BCB-DC2E-35317A5F0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428D3-A8DB-B70C-F128-D1DE42257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18C8E-80C9-A041-E3A2-6D37C731A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E2963-5BAF-8911-3E5A-CFEDB733C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694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C9FD-9AD2-CD24-4215-6F16CE6D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00318-A747-D3E9-B137-61615215C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F94EB-09DD-7A75-D79A-927876229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72DE9-6609-36CB-4311-E1A542D8D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799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0D3A-E3CA-7824-A10E-48FBB7BD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63AC0-3AF1-3CD9-335E-7FEDD2408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FD05D-812C-4940-20C0-C3619FE4F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E767C-4E2B-9841-EEB5-42CF215C9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8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8BACA-B730-1A88-C6FA-8F9589871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22C1A-C3B4-E580-75B0-AB02A0CB0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13385-06F6-1B00-D950-207E788C0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F96B6-A123-CF3A-95AA-048FAF5A7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037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15AD7-5E3B-25BC-75D3-F926C721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5E4B4-E4C2-FE8A-7382-015F6B7A6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11A4F-E3E5-D12B-036E-A9C9CADC2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A2137-7582-C3C4-91A0-A33ED92D1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868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E18A-CAD2-B679-E6BE-ECB962D0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95364-4C88-4B5F-F373-2526D2A37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CC724-87CD-C1CF-48E0-280DDD1BD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ED051-2A07-4800-FE14-7B6D99CFB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44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BB5B-8302-BE5A-97BE-C98A53EBD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6413F-2AC2-B516-FA78-E31E856A6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5BE37-C9F4-DE27-48FF-DA86AA5BF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CBC60-13EB-9035-EFF7-DC10F0852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2598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9332-0DD6-83B3-0D36-11597517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F7539-FFC3-CD97-146C-6743C2E75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4444B-028F-037E-A23C-2BDAAA25B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261A3-0633-415A-53C0-CC939B529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E45DCC-5673-4C35-AE63-3E771D5DE3D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470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253C-A700-6C94-53D4-44CDA374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548D7-62E7-3DDA-C77B-CB6A6E00E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90E38-A97F-CA5D-5AC3-B9B151CB0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F5AA3-28F8-8459-18B1-29F42174F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567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DA55-364B-4442-85E8-4D85C9C6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8F9DF-A9A4-090F-3B9F-06186E770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FB13E-FE94-207F-06D2-D31ED490F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8D162-DE5D-52CB-1DFB-4A5E174CD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835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58B68-B7AB-E750-22EF-740457EB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7A4DD-EE0F-40CF-6277-3DD696AF9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71B75-91D6-CED7-BF7D-806BC7E83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DA492-8309-2D74-A144-E2D736768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5657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EA48-824A-D3E5-D847-5B8741F0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96EBC-4CF5-91AF-239E-9016A91B6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7D58C-2C71-3A8B-C971-DD056EFFC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D1396-4A32-EE07-9AFC-C280DAE8F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972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BAC3-878B-5F2F-12A6-B94F10B2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80E6A-C6F2-0E2B-963F-0ABA78A7E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742DA-0B7A-7D82-D968-4F211B1B7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DBF1D-12F0-0D96-FB17-AFEBA22A9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4717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03DB8-B423-8E52-D4C3-EF7894B99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60B72-CA2B-07F5-AB0A-02AF79106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F5D01-7154-5983-9FEC-B5B8B7A1C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9B84F-5793-EB11-C331-DE7DDAF17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E45DCC-5673-4C35-AE63-3E771D5DE3D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7996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0030C-6543-3C9C-86D6-489F39BE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0566E-D6C0-4609-0EA6-73E66B95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6FE39-C4A3-9BFD-BE5E-B270D7F9C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1CCB3-C02F-FFEB-27CE-D09E599EA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3943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6040-F968-B678-DCE7-D8D2CDDA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26080-DD4E-FF3A-BBA9-CD496185C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C9A98-108D-ED49-224C-D0707E8F6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055D9-2800-90C5-865E-E12647EF4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727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F897-A454-B31A-2DA4-65793BE6E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48CCB-2C09-6919-6DCF-9B63E5C6C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F0753-46A5-E5A5-D2C7-34166D9AF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F5165-AAA1-73D2-6360-6A841ED3F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580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5906-3A3A-346D-4146-75717356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E5B58-F235-36A3-851D-061D17E41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4E097-201E-7765-F607-AAB576DDD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F5224-6B2E-341D-B5AE-9DCC562EF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7199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7A7F-FEEC-0F3B-01A7-0C5CA3E1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CF9AF-4C0C-A0DB-AFAE-962936C3F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25D3C-80C3-2E5B-FF60-988347CA8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1AB36-7E83-2D7A-3E4E-4E19857B3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9798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3632-310C-CD83-ADF4-03BF9B38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ABDC1-1AE2-9E3E-E023-BAA20D129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51126-BAED-D9FB-D266-452F01F47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D5FA2-7990-EC8A-DFA8-9C1B5EFEE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9439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E310-6196-C5E1-37FF-6C3C2652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93794-D794-626E-F86A-F200D99B3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8D955-0C45-CF85-B7CA-FF5961F05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88136-5C78-6194-98D3-6DA697F06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5268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1D4D-2D2A-F415-DF10-A86D8769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9D2C2-CA52-FF10-4FE6-10F1F4AE1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C1446-03E7-E364-B613-B59E2D61A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A7F10-ED71-B991-72B7-EC70538D7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1257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A883-7CD5-2C13-F6BF-A4990A76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768A4-A713-BEE1-5D18-648756100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DF441-21AC-D3DF-B779-E380C69EC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C706E-13C7-BC31-CE73-96BA31381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2326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F1E9-4DA0-9DDE-25A5-B32C6BE0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90DF6-5F78-D9F0-A8E9-0B1BADAF6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A2CA1-6A74-B231-B1CC-7F29BF29D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0FDF5-8FD2-5079-F302-CBA99FA7A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2431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50222-ED0E-304C-E353-830C90669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DD211-53DC-1E41-171A-2CC8784AD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4211B-DC8D-C84C-0D61-5FD8D14C1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C7322-2DEF-7E6F-810D-A465BE691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6580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5A64-EA6C-09D5-E7B5-A56D0EF6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86FFD-4969-8F7C-81CF-26D14C92B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B823B-3744-4040-FD37-DA018C18D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05677-C8BC-13CF-2DF3-5EFD6C39D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0175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8889-1F32-9D2B-3FBB-B8839EBD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9D25B-C219-89DC-DA88-C8796718A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EC564-B2EB-ED8E-10C9-0F85647F9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7BA97-A80B-2D21-1A70-7AD1E2E38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45DCC-5673-4C35-AE63-3E771D5DE3D2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681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E4148-789F-9DCA-8139-8CF5EB767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AF3EA-4153-073A-29DB-516F40B29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41502-E9C9-6BC8-B538-C7067762A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88D1-2776-5796-F30C-C575AA70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BE6F7-601F-DFC1-861A-086E8BEA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73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9503-C9F3-1496-76DE-8032C5C8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FC869-A307-4314-2315-58054E96C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0745-8DA6-490A-454E-98585E73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283BF-E8B3-02CB-D3F5-8894884F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0F2AF-62A8-326F-1B24-139F3152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9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3F35-323B-225C-FFB0-E8BA6A819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94399-BDAC-7E0D-4FDB-0573051D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7CA5C-CD50-CA0D-EC13-60BF2C71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71DFE-686D-AD8B-AB65-6C06C536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39007-E7A6-CE9E-BF5E-1EACEC3E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77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C221-2782-0FF2-B19B-B57B090C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458D6-760F-7EE4-437C-AAAD8D08E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959AA-9A56-C9D6-9A29-E71A5935A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DE740-3310-4B90-A4BD-63F49332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28127-2333-BF16-1FAE-C8F75CF0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DF67C-0BEE-F974-5EB0-21F8B07B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8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A6F4-5F92-ACA3-EE7F-47512F374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4720F-1A71-483D-8B17-68095E6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4DE79-FE46-CCD7-4483-58A67A5DD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733DB-CEA2-064B-CAEB-A76EF3A6A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60B33-4873-BC7A-8541-B1987B71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C4B3D-F793-CEDC-3244-BA5C59FA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FE499-3DAF-E164-5A8E-0223042F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546CF-02D3-164D-8624-FB6AC9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61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E8F7E-0BF1-9AD5-CB5A-5D8EA332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8F2A9-855A-211C-E840-ABBD1B18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75B2D-6AC7-B5A2-5415-1AED914C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A0516-BEBC-8EC9-C006-C64A3D40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63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7CBC8-06C6-4087-4EFE-5835E835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156BE-F75D-5F5D-6A1F-50B8AEE4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151F0-A094-DEBB-8C10-95702B14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35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6B103-1DBD-8EA8-76E7-E7A75037A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782D6-2BC0-FC99-6F06-E29078BAD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61DF0-F4F0-12C2-D311-51B0AF329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749F6-2357-796F-4E1E-AF11CCC7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81393-32E0-9A43-4AEF-8F7B0ABE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1D794-FE5E-4044-83CC-79B7F3E8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4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C485-6667-13B9-9345-B0F2615B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D6559-90B8-8F2C-1C14-E29FE7DB4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70715-2B8C-C491-41C9-677B92F35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6AA7E-8198-CD0A-F269-C98CF6C8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B1FAC-4CAA-BA56-D30D-5F885CD9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980D1-FEB9-208C-A292-8FDAA256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6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1120-FCA3-7459-4FBC-AA9BEA90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DD8FC-8151-18A9-F857-8B99B0A0E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24CB6-086F-33AD-6574-8909FAD4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8275-21E5-8E4B-B033-11014CF0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F1CA8-4F9C-8E64-CE57-7F2DED10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75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F10E5-410D-7ACC-042C-E667CD636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44BFF-33FF-8F29-F823-C01136D07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BB45D-B515-5403-6042-D3A90BBC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B79E9-04F7-817F-401D-09EAA47A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950C-A63B-1E70-8944-A748E132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91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5AA1F5-A4DB-3E26-ACFE-B1818C1D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438C0-9E72-C9A0-6D1E-32ECEC4BD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55828-2746-B290-C7D3-3FAC4737A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D7860-F837-4AD2-9E78-281B53E636A0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685E4-452C-EFB2-D379-0F80B3544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321E2-F1FC-7211-3590-961848BB5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45599-7E40-45BE-925E-27339DEBA9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86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A557-8C42-6839-3C68-9253B775B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959" y="1214438"/>
            <a:ext cx="9692081" cy="2387600"/>
          </a:xfrm>
        </p:spPr>
        <p:txBody>
          <a:bodyPr>
            <a:normAutofit/>
          </a:bodyPr>
          <a:lstStyle/>
          <a:p>
            <a:r>
              <a:rPr lang="en-NL" sz="4400" dirty="0"/>
              <a:t>Thesis </a:t>
            </a:r>
            <a:r>
              <a:rPr lang="en-GB" sz="4400" dirty="0"/>
              <a:t>status</a:t>
            </a:r>
            <a:br>
              <a:rPr lang="en-NL" sz="4400" dirty="0"/>
            </a:br>
            <a:r>
              <a:rPr lang="en-NL" sz="4400" dirty="0"/>
              <a:t>December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8A440-3FE5-2DAD-9616-C38317C93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Nitai Nijholt (2nd year MSc Computational Science)</a:t>
            </a:r>
          </a:p>
        </p:txBody>
      </p:sp>
      <p:pic>
        <p:nvPicPr>
          <p:cNvPr id="5" name="Picture 4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CAC29942-646D-1100-DC5D-9B8E804AE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7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A862-BCC8-4867-13E1-A505DCFD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A7B8-EB84-8462-2802-0B8B1DCD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51E47-A780-0292-9968-F7D3B4BF6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194" y="1497013"/>
            <a:ext cx="10515600" cy="4351338"/>
          </a:xfrm>
        </p:spPr>
        <p:txBody>
          <a:bodyPr>
            <a:normAutofit/>
          </a:bodyPr>
          <a:lstStyle/>
          <a:p>
            <a:r>
              <a:rPr lang="en-NL" dirty="0"/>
              <a:t>Thesis storyline as presentation</a:t>
            </a:r>
          </a:p>
          <a:p>
            <a:pPr lvl="1"/>
            <a:r>
              <a:rPr lang="en-NL" dirty="0"/>
              <a:t>Motivation</a:t>
            </a:r>
          </a:p>
          <a:p>
            <a:pPr lvl="1"/>
            <a:r>
              <a:rPr lang="en-NL" dirty="0"/>
              <a:t>RQ’s &amp; Experiments</a:t>
            </a:r>
          </a:p>
          <a:p>
            <a:pPr lvl="1"/>
            <a:r>
              <a:rPr lang="en-NL" dirty="0"/>
              <a:t>Results</a:t>
            </a:r>
          </a:p>
          <a:p>
            <a:pPr lvl="1"/>
            <a:r>
              <a:rPr lang="en-NL" dirty="0"/>
              <a:t>Discussion &amp; Limitations</a:t>
            </a:r>
          </a:p>
          <a:p>
            <a:r>
              <a:rPr lang="en-NL" dirty="0"/>
              <a:t>Thesis written outline</a:t>
            </a:r>
          </a:p>
          <a:p>
            <a:r>
              <a:rPr lang="en-NL" dirty="0"/>
              <a:t>Highest </a:t>
            </a:r>
            <a:r>
              <a:rPr lang="en-NL" dirty="0" err="1"/>
              <a:t>val</a:t>
            </a:r>
            <a:r>
              <a:rPr lang="en-GB" dirty="0" err="1"/>
              <a:t>ue</a:t>
            </a:r>
            <a:r>
              <a:rPr lang="en-NL" dirty="0"/>
              <a:t> focus points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25B7388F-5CE1-63C5-9C28-211377DE7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8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EFF7-06C7-29E5-7897-778998FDA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8D0A8585-031D-D754-1A2E-95F3D1328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93FDEC0-F564-5D28-56CC-E7ADE893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59C16-F18F-94B0-332F-C738F5F6436A}"/>
              </a:ext>
            </a:extLst>
          </p:cNvPr>
          <p:cNvSpPr txBox="1"/>
          <p:nvPr/>
        </p:nvSpPr>
        <p:spPr>
          <a:xfrm>
            <a:off x="877452" y="1437720"/>
            <a:ext cx="953271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b="1" dirty="0"/>
              <a:t>LLM’s as solution for expensive large variable CLD construction</a:t>
            </a:r>
          </a:p>
          <a:p>
            <a:endParaRPr lang="en-NL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CLDs are precursors to computational models that enable intervention simulations and inform new theories/experiments. </a:t>
            </a:r>
            <a:endParaRPr lang="en-NL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CLD construction cost scales as O(N²), making large-variable systems expensive to create</a:t>
            </a:r>
            <a:r>
              <a:rPr lang="en-NL" sz="1600" dirty="0"/>
              <a:t> - </a:t>
            </a:r>
            <a:r>
              <a:rPr lang="en-GB" sz="1600" dirty="0"/>
              <a:t>especially through group model-building sessions.</a:t>
            </a:r>
            <a:endParaRPr lang="en-NL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LLM-based </a:t>
            </a:r>
            <a:r>
              <a:rPr lang="en-NL" sz="1600" dirty="0"/>
              <a:t>methods can reduce CLD construction cost by providing a starting point for experts to complete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1600" dirty="0"/>
              <a:t>Literature on LLM-based CLD construction focusses</a:t>
            </a:r>
            <a:r>
              <a:rPr lang="en-GB" sz="1600" dirty="0"/>
              <a:t> on causal translation</a:t>
            </a:r>
            <a:r>
              <a:rPr lang="en-NL" sz="1600" dirty="0"/>
              <a:t> which can reduce hallucination through RAG</a:t>
            </a:r>
            <a:r>
              <a:rPr lang="en-GB" sz="1600" dirty="0"/>
              <a:t>, </a:t>
            </a:r>
            <a:r>
              <a:rPr lang="en-NL" sz="1600" dirty="0"/>
              <a:t>but</a:t>
            </a:r>
            <a:r>
              <a:rPr lang="en-GB" sz="1600" dirty="0"/>
              <a:t> assumes </a:t>
            </a:r>
            <a:r>
              <a:rPr lang="en-NL" sz="1600" dirty="0"/>
              <a:t>relevant </a:t>
            </a:r>
            <a:r>
              <a:rPr lang="en-GB" sz="1600" dirty="0"/>
              <a:t>corpus availability</a:t>
            </a:r>
            <a:r>
              <a:rPr lang="en-NL" sz="1600" dirty="0"/>
              <a:t> and can be capped by retrieval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1600" dirty="0"/>
              <a:t>LLM CLD generation is alternative that is relatively cheap and (external) corpus independent, but suffers from hallucinations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C</a:t>
            </a:r>
            <a:r>
              <a:rPr lang="en-NL" sz="1600" dirty="0" err="1"/>
              <a:t>orpus</a:t>
            </a:r>
            <a:r>
              <a:rPr lang="en-NL" sz="1600" dirty="0"/>
              <a:t> independent hallucination reduction methods such as  multi-agent LLM-as-a-judge setup, and low-cost logit based uncertainty are corpus </a:t>
            </a:r>
            <a:r>
              <a:rPr lang="en-NL" sz="1600" dirty="0" err="1"/>
              <a:t>indepe</a:t>
            </a:r>
            <a:r>
              <a:rPr lang="en-GB" sz="1600" dirty="0"/>
              <a:t>n</a:t>
            </a:r>
            <a:r>
              <a:rPr lang="en-NL" sz="1600" dirty="0"/>
              <a:t>dent alternatives that have support for reducing hallucinations in literature, but remain untested in CLD generation context</a:t>
            </a:r>
          </a:p>
        </p:txBody>
      </p:sp>
    </p:spTree>
    <p:extLst>
      <p:ext uri="{BB962C8B-B14F-4D97-AF65-F5344CB8AC3E}">
        <p14:creationId xmlns:p14="http://schemas.microsoft.com/office/powerpoint/2010/main" val="58179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4CA6-3FF3-B22A-7E71-907BA6F6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8A77F779-B71E-E671-700E-431C951C7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9E4BB20-242C-38A6-9D11-D69DBE8D3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Research G</a:t>
            </a:r>
            <a:r>
              <a:rPr lang="en-GB" dirty="0"/>
              <a:t>a</a:t>
            </a:r>
            <a:r>
              <a:rPr lang="en-NL" dirty="0"/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4EF13-9D53-EF33-F9F0-BBCF6D027410}"/>
              </a:ext>
            </a:extLst>
          </p:cNvPr>
          <p:cNvSpPr txBox="1"/>
          <p:nvPr/>
        </p:nvSpPr>
        <p:spPr>
          <a:xfrm>
            <a:off x="877452" y="1690688"/>
            <a:ext cx="95327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000" b="1" dirty="0"/>
              <a:t>Research Gap: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000" dirty="0"/>
              <a:t>Corpus independent Multi-agent hallucination reduction methods LLM-as-a-judge, and low-cost logit based uncertainty quantification not systematically tested in CLD generation context</a:t>
            </a:r>
          </a:p>
          <a:p>
            <a:endParaRPr lang="en-NL" sz="2000" dirty="0"/>
          </a:p>
          <a:p>
            <a:r>
              <a:rPr lang="en-NL" sz="2000" b="1" dirty="0"/>
              <a:t>Contribution: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000" dirty="0"/>
              <a:t>Systematically explore LLM-as-a-judge and logit based uncertainty quantification to reduce hallucinations in LLM-based CLD generation</a:t>
            </a:r>
          </a:p>
        </p:txBody>
      </p:sp>
    </p:spTree>
    <p:extLst>
      <p:ext uri="{BB962C8B-B14F-4D97-AF65-F5344CB8AC3E}">
        <p14:creationId xmlns:p14="http://schemas.microsoft.com/office/powerpoint/2010/main" val="260936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8686-4ECB-BDC4-4F6E-A90E661F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0C5F4CDD-B504-617F-7BD3-84B1509A6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E5E128E-B8D0-E974-19F2-88609521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Definition Hallucination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66496-E547-A1D4-ACB7-2C2C908EAA99}"/>
              </a:ext>
            </a:extLst>
          </p:cNvPr>
          <p:cNvSpPr txBox="1"/>
          <p:nvPr/>
        </p:nvSpPr>
        <p:spPr>
          <a:xfrm>
            <a:off x="877452" y="1496536"/>
            <a:ext cx="10476348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000" b="1" dirty="0"/>
              <a:t>Hallucinations in LLM-based CLD edge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L" sz="2000" dirty="0"/>
              <a:t>Incorrectness in causal links (</a:t>
            </a:r>
            <a:r>
              <a:rPr lang="en-NL" sz="2000" dirty="0" err="1"/>
              <a:t>erron</a:t>
            </a:r>
            <a:r>
              <a:rPr lang="en-GB" sz="2000" dirty="0"/>
              <a:t>e</a:t>
            </a:r>
            <a:r>
              <a:rPr lang="en-NL" sz="2000" dirty="0" err="1"/>
              <a:t>ous</a:t>
            </a:r>
            <a:r>
              <a:rPr lang="en-NL" sz="2000" dirty="0"/>
              <a:t> absence or presence of link between variables, wrong link direction, wrong causal narrative)</a:t>
            </a:r>
          </a:p>
          <a:p>
            <a:endParaRPr lang="en-NL" dirty="0"/>
          </a:p>
          <a:p>
            <a:r>
              <a:rPr lang="en-NL" b="1" dirty="0"/>
              <a:t>Hallucination operationalization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b="1" dirty="0"/>
              <a:t>GT lit: </a:t>
            </a:r>
            <a:r>
              <a:rPr lang="en-NL" dirty="0"/>
              <a:t>CLD from literature</a:t>
            </a:r>
            <a:r>
              <a:rPr lang="en-NL" b="1" dirty="0"/>
              <a:t> </a:t>
            </a:r>
            <a:r>
              <a:rPr lang="en-NL" dirty="0"/>
              <a:t>(FP/FN w.r.t lit CLD = hallucination)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b="1" dirty="0"/>
              <a:t>GT Synth</a:t>
            </a:r>
            <a:r>
              <a:rPr lang="en-NL" dirty="0"/>
              <a:t>: LLM corrupted edges in LLM generated CLD (</a:t>
            </a:r>
            <a:r>
              <a:rPr lang="en-NL" b="1" dirty="0"/>
              <a:t>Corrupted </a:t>
            </a:r>
            <a:r>
              <a:rPr lang="en-NL" dirty="0"/>
              <a:t>= Hallucination)</a:t>
            </a:r>
            <a:endParaRPr lang="en-NL" b="1" dirty="0"/>
          </a:p>
          <a:p>
            <a:endParaRPr lang="en-NL" dirty="0"/>
          </a:p>
          <a:p>
            <a:r>
              <a:rPr lang="en-NL" b="1" dirty="0"/>
              <a:t>Corruption process operationalization </a:t>
            </a:r>
            <a:r>
              <a:rPr lang="en-NL" i="1" dirty="0"/>
              <a:t>(</a:t>
            </a:r>
            <a:r>
              <a:rPr lang="en-NL" i="1" dirty="0" err="1"/>
              <a:t>HaluEval</a:t>
            </a:r>
            <a:r>
              <a:rPr lang="en-NL" i="1" dirty="0"/>
              <a:t> inspired, applying SD-AI CLD </a:t>
            </a:r>
            <a:r>
              <a:rPr lang="en-NL" i="1" dirty="0" err="1"/>
              <a:t>hallcunation</a:t>
            </a:r>
            <a:r>
              <a:rPr lang="en-NL" i="1" dirty="0"/>
              <a:t> types)</a:t>
            </a:r>
          </a:p>
          <a:p>
            <a:r>
              <a:rPr lang="en-GB" dirty="0"/>
              <a:t>The Corruptor deliberately introduces controlled errors into CLDs to test whether LLM judges can detect faulty causal reasoning. It applies three corruption types</a:t>
            </a:r>
            <a:r>
              <a:rPr lang="en-NL" dirty="0"/>
              <a:t> with rate 0.3 to the edges </a:t>
            </a:r>
            <a:r>
              <a:rPr lang="en-GB" dirty="0"/>
              <a:t> with balanced distribution:</a:t>
            </a:r>
            <a:endParaRPr lang="en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Motivation corruption</a:t>
            </a:r>
            <a:r>
              <a:rPr lang="en-GB" dirty="0"/>
              <a:t> – replaces valid explanations with plausible-but-flawed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Spurious edges</a:t>
            </a:r>
            <a:r>
              <a:rPr lang="en-GB" dirty="0"/>
              <a:t> – converts NONE relationships into false positive causal links</a:t>
            </a:r>
            <a:r>
              <a:rPr lang="en-NL" dirty="0"/>
              <a:t> (positive or negative relationship type)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Polarity flips</a:t>
            </a:r>
            <a:r>
              <a:rPr lang="en-GB" dirty="0"/>
              <a:t> – inverts POSITIVE↔NEGATIVE relationships</a:t>
            </a:r>
            <a:endParaRPr lang="en-NL" dirty="0"/>
          </a:p>
          <a:p>
            <a:r>
              <a:rPr lang="en-NL" dirty="0"/>
              <a:t>	</a:t>
            </a:r>
          </a:p>
          <a:p>
            <a:r>
              <a:rPr lang="en-NL" dirty="0"/>
              <a:t>	</a:t>
            </a:r>
            <a:r>
              <a:rPr lang="en-NL" b="1" dirty="0"/>
              <a:t>Key params</a:t>
            </a:r>
            <a:r>
              <a:rPr lang="en-GB" b="1" dirty="0"/>
              <a:t> C</a:t>
            </a:r>
            <a:r>
              <a:rPr lang="en-NL" b="1" dirty="0" err="1"/>
              <a:t>orruptor</a:t>
            </a:r>
            <a:r>
              <a:rPr lang="en-NL" dirty="0"/>
              <a:t>: model=openai:gpt4.1, temperature = 0.7, </a:t>
            </a:r>
            <a:r>
              <a:rPr lang="en-NL" dirty="0" err="1"/>
              <a:t>top_p</a:t>
            </a:r>
            <a:r>
              <a:rPr lang="en-NL" dirty="0"/>
              <a:t>=1, </a:t>
            </a:r>
            <a:r>
              <a:rPr lang="en-NL" dirty="0" err="1"/>
              <a:t>corruption_rate</a:t>
            </a:r>
            <a:r>
              <a:rPr lang="en-NL" dirty="0"/>
              <a:t>=0.3</a:t>
            </a:r>
          </a:p>
          <a:p>
            <a:endParaRPr lang="en-NL" b="1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4677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A3BC6-0B9D-3CBC-D925-4AD89BBA1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BD2672CE-48A3-D143-F362-7E475300F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E213006-8C69-6AB3-5B6F-A09AFA73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Preliminaries: CLD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AED6A-79EA-8ACE-0D76-218CE29ED684}"/>
              </a:ext>
            </a:extLst>
          </p:cNvPr>
          <p:cNvSpPr txBox="1"/>
          <p:nvPr/>
        </p:nvSpPr>
        <p:spPr>
          <a:xfrm>
            <a:off x="877452" y="1690688"/>
            <a:ext cx="95327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b="1" dirty="0"/>
              <a:t>CLD generation using generator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b="1" dirty="0"/>
              <a:t>Input: </a:t>
            </a:r>
            <a:r>
              <a:rPr lang="en-NL" dirty="0"/>
              <a:t>variables (nodes) from </a:t>
            </a:r>
            <a:r>
              <a:rPr lang="en-NL" b="1" dirty="0"/>
              <a:t>GT lit</a:t>
            </a:r>
            <a:r>
              <a:rPr lang="en-NL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b="1" dirty="0"/>
              <a:t>Process: </a:t>
            </a:r>
            <a:r>
              <a:rPr lang="en-NL" dirty="0"/>
              <a:t>iterate pairwise over all combinations of variables pairwise (</a:t>
            </a:r>
            <a:r>
              <a:rPr lang="en-NL" i="1" dirty="0"/>
              <a:t>note: directed</a:t>
            </a:r>
            <a:r>
              <a:rPr lang="en-NL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b="1" dirty="0"/>
              <a:t>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L" dirty="0"/>
              <a:t>a) relationship type positive/negative/none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NL" dirty="0"/>
              <a:t>b) causal narrative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NL" dirty="0"/>
          </a:p>
          <a:p>
            <a:r>
              <a:rPr lang="en-NL" b="1" dirty="0"/>
              <a:t>	Key params Generator: </a:t>
            </a:r>
            <a:r>
              <a:rPr lang="en-NL" dirty="0"/>
              <a:t>model=openai:gpt4.1, temperature = 0.7, </a:t>
            </a:r>
            <a:r>
              <a:rPr lang="en-NL" dirty="0" err="1"/>
              <a:t>top_p</a:t>
            </a:r>
            <a:r>
              <a:rPr lang="en-NL" dirty="0"/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164270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7D5E5-31F3-08FB-971C-54707CF5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EC1ADD02-CADB-BD84-E094-5E4C14691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D5E4A7F-63CC-4084-BEE0-DB558CCC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Research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96527A-295C-5F24-6BAC-EE470F2D2415}"/>
              </a:ext>
            </a:extLst>
          </p:cNvPr>
          <p:cNvSpPr txBox="1"/>
          <p:nvPr/>
        </p:nvSpPr>
        <p:spPr>
          <a:xfrm>
            <a:off x="877452" y="1243052"/>
            <a:ext cx="95327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NL" b="1" dirty="0"/>
          </a:p>
          <a:p>
            <a:r>
              <a:rPr lang="en-NL" b="1" dirty="0"/>
              <a:t>RQ1a) LLM-as-a-judge</a:t>
            </a:r>
          </a:p>
          <a:p>
            <a:r>
              <a:rPr lang="en-NL" dirty="0"/>
              <a:t>Can LLM-as-a-judge detect hallucinations in LLM generated CLD edges?</a:t>
            </a:r>
          </a:p>
          <a:p>
            <a:endParaRPr lang="en-NL" b="1" dirty="0"/>
          </a:p>
          <a:p>
            <a:r>
              <a:rPr lang="en-NL" b="1" dirty="0"/>
              <a:t>RQ1b) LLM-as-a-corrector</a:t>
            </a:r>
          </a:p>
          <a:p>
            <a:r>
              <a:rPr lang="en-NL" dirty="0"/>
              <a:t>Can LLM-as-a-corrector improve hallucinations in LLM generated CLD edges?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b="1" dirty="0"/>
          </a:p>
          <a:p>
            <a:r>
              <a:rPr lang="en-NL" b="1" dirty="0"/>
              <a:t>RQ2) Generator metrics</a:t>
            </a:r>
            <a:br>
              <a:rPr lang="en-NL" b="1" dirty="0"/>
            </a:br>
            <a:r>
              <a:rPr lang="en-NL" dirty="0"/>
              <a:t>Can generator logit derived metrics detect hallucinations in LLM generated edges?</a:t>
            </a:r>
          </a:p>
          <a:p>
            <a:pPr lvl="0"/>
            <a:endParaRPr lang="en-NL" dirty="0"/>
          </a:p>
          <a:p>
            <a:pPr lvl="0"/>
            <a:r>
              <a:rPr lang="en-NL" b="1" dirty="0"/>
              <a:t>RQ3) Smart test time compute</a:t>
            </a:r>
          </a:p>
          <a:p>
            <a:r>
              <a:rPr lang="en-GB" dirty="0"/>
              <a:t>Can </a:t>
            </a:r>
            <a:r>
              <a:rPr lang="en-NL" dirty="0"/>
              <a:t>generator logit </a:t>
            </a:r>
            <a:r>
              <a:rPr lang="en-GB" dirty="0"/>
              <a:t>metrics when used as hallucination indicators be used to deploy test-time compute to correct hallucinations </a:t>
            </a:r>
            <a:r>
              <a:rPr lang="en-NL" dirty="0"/>
              <a:t>in CLD edges </a:t>
            </a:r>
            <a:r>
              <a:rPr lang="en-GB" dirty="0"/>
              <a:t>more efficiently?</a:t>
            </a:r>
            <a:endParaRPr lang="en-NL" b="1" dirty="0"/>
          </a:p>
          <a:p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358595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63EE9-4FBC-7D7D-2DA8-0124A573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98F9F385-927C-0F9B-D2A2-758085A78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D8F3A0-5F25-D515-0A29-4A5611F610D3}"/>
              </a:ext>
            </a:extLst>
          </p:cNvPr>
          <p:cNvSpPr txBox="1"/>
          <p:nvPr/>
        </p:nvSpPr>
        <p:spPr>
          <a:xfrm>
            <a:off x="1680605" y="2890391"/>
            <a:ext cx="9532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b="1" dirty="0"/>
              <a:t>RQ1a) </a:t>
            </a:r>
            <a:r>
              <a:rPr lang="en-NL" sz="2400" dirty="0"/>
              <a:t>Can LLM-as-a-judge detect hallucinations in LLM generated CLD edges?</a:t>
            </a:r>
          </a:p>
        </p:txBody>
      </p:sp>
    </p:spTree>
    <p:extLst>
      <p:ext uri="{BB962C8B-B14F-4D97-AF65-F5344CB8AC3E}">
        <p14:creationId xmlns:p14="http://schemas.microsoft.com/office/powerpoint/2010/main" val="33379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FC4D-4C13-5FD0-BC23-A81EADB7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E5605A56-5C0A-46EA-1555-2FCF1A8E2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66B82B1B-2276-AF5F-AAF5-07B08BD0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527"/>
            <a:ext cx="10515600" cy="1325563"/>
          </a:xfrm>
        </p:spPr>
        <p:txBody>
          <a:bodyPr>
            <a:normAutofit/>
          </a:bodyPr>
          <a:lstStyle/>
          <a:p>
            <a:r>
              <a:rPr lang="en-NL" dirty="0"/>
              <a:t>RQ1a: Judge description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A9908-E2DC-E4AE-14A1-8F4F43D33EA3}"/>
              </a:ext>
            </a:extLst>
          </p:cNvPr>
          <p:cNvSpPr txBox="1"/>
          <p:nvPr/>
        </p:nvSpPr>
        <p:spPr>
          <a:xfrm>
            <a:off x="838200" y="1271988"/>
            <a:ext cx="953271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Input: </a:t>
            </a:r>
            <a:r>
              <a:rPr lang="en-GB" sz="1600" dirty="0"/>
              <a:t>Variables, relationship type, causal narrative</a:t>
            </a:r>
            <a:r>
              <a:rPr lang="en-NL" sz="1600" dirty="0"/>
              <a:t>, prompt (baseline, </a:t>
            </a:r>
            <a:r>
              <a:rPr lang="en-NL" sz="1600" dirty="0" err="1"/>
              <a:t>CoT</a:t>
            </a:r>
            <a:r>
              <a:rPr lang="en-NL" sz="1600" dirty="0"/>
              <a:t>, Mechanistic </a:t>
            </a:r>
            <a:r>
              <a:rPr lang="en-NL" sz="1600" dirty="0" err="1"/>
              <a:t>CoT</a:t>
            </a:r>
            <a:r>
              <a:rPr lang="en-NL" sz="1600" dirty="0"/>
              <a:t>)</a:t>
            </a:r>
          </a:p>
          <a:p>
            <a:endParaRPr lang="en-GB" sz="1600" dirty="0"/>
          </a:p>
          <a:p>
            <a:r>
              <a:rPr lang="en-NL" sz="1600" b="1" dirty="0"/>
              <a:t>Judge Process (2 types):</a:t>
            </a:r>
          </a:p>
          <a:p>
            <a:r>
              <a:rPr lang="en-NL" sz="1600" b="1" dirty="0"/>
              <a:t>A) Correctness Judge </a:t>
            </a:r>
            <a:r>
              <a:rPr lang="en-NL" sz="1600" dirty="0"/>
              <a:t>– verifies correctness </a:t>
            </a:r>
          </a:p>
          <a:p>
            <a:r>
              <a:rPr lang="en-NL" sz="1600" b="1" dirty="0"/>
              <a:t>B) Citation Judge </a:t>
            </a:r>
            <a:r>
              <a:rPr lang="en-NL" sz="1600" dirty="0"/>
              <a:t>– verifies if articles support causal narrative</a:t>
            </a:r>
            <a:r>
              <a:rPr lang="en-GB" sz="1600" dirty="0"/>
              <a:t> (Brave search</a:t>
            </a:r>
            <a:r>
              <a:rPr lang="en-NL" sz="1600" dirty="0"/>
              <a:t> on causal narrative</a:t>
            </a:r>
            <a:r>
              <a:rPr lang="en-GB" sz="1600" dirty="0"/>
              <a:t>, up to 5 articles)</a:t>
            </a:r>
            <a:endParaRPr lang="en-NL" sz="1600" dirty="0"/>
          </a:p>
          <a:p>
            <a:endParaRPr lang="en-NL" sz="1600" dirty="0"/>
          </a:p>
          <a:p>
            <a:r>
              <a:rPr lang="en-GB" sz="1600" b="1" dirty="0"/>
              <a:t>Output: </a:t>
            </a:r>
            <a:r>
              <a:rPr lang="en-GB" sz="1600" dirty="0"/>
              <a:t>Score indicating </a:t>
            </a:r>
            <a:r>
              <a:rPr lang="en-NL" sz="1600" dirty="0"/>
              <a:t>if a) the causal narrative is correct or b) the causal narrative is supported by the sources found via Brave</a:t>
            </a:r>
          </a:p>
          <a:p>
            <a:pPr marL="342900" indent="-342900">
              <a:buAutoNum type="alphaLcParenR"/>
            </a:pPr>
            <a:r>
              <a:rPr lang="en-GB" sz="1600" b="1" dirty="0"/>
              <a:t>Correctness Judge</a:t>
            </a:r>
            <a:endParaRPr lang="en-NL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0: Incorrect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0.5: Partially 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1: Correct</a:t>
            </a:r>
          </a:p>
          <a:p>
            <a:r>
              <a:rPr lang="en-GB" sz="1600" b="1" dirty="0"/>
              <a:t>b) Citation Judge</a:t>
            </a:r>
            <a:endParaRPr lang="en-NL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0: Not supported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0.5: Partially supported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1: Fully supported</a:t>
            </a:r>
          </a:p>
          <a:p>
            <a:endParaRPr lang="en-NL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6065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D07F-C615-C1B6-8263-161937C1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E9F65B0-C74D-2CB0-3F26-435E442E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RQ1a: Experimental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C4C33-896B-A73C-582F-3801784DECDA}"/>
              </a:ext>
            </a:extLst>
          </p:cNvPr>
          <p:cNvSpPr txBox="1"/>
          <p:nvPr/>
        </p:nvSpPr>
        <p:spPr>
          <a:xfrm>
            <a:off x="877452" y="1143653"/>
            <a:ext cx="953271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NL" sz="1600" b="1" dirty="0"/>
          </a:p>
          <a:p>
            <a:r>
              <a:rPr lang="en-NL" sz="1600" b="1" dirty="0"/>
              <a:t>Experiments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/>
              <a:t>3 prompts, 3 CLD’s, 3 runs per CLD per task type (27 runs)</a:t>
            </a:r>
            <a:endParaRPr lang="en-NL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b="1" dirty="0"/>
              <a:t>Task A) </a:t>
            </a:r>
            <a:r>
              <a:rPr lang="en-GB" sz="1600" b="1" dirty="0"/>
              <a:t>Correctness Judge</a:t>
            </a:r>
            <a:endParaRPr lang="en-NL" sz="1600" b="1" dirty="0"/>
          </a:p>
          <a:p>
            <a:pPr lvl="1"/>
            <a:r>
              <a:rPr lang="en-NL" sz="1600" dirty="0"/>
              <a:t>✅ </a:t>
            </a:r>
            <a:r>
              <a:rPr lang="en-GB" sz="1600" dirty="0"/>
              <a:t>Judge correctness vs. </a:t>
            </a:r>
            <a:r>
              <a:rPr lang="en-GB" sz="1600" b="1" dirty="0"/>
              <a:t>GT Synth</a:t>
            </a:r>
            <a:r>
              <a:rPr lang="en-NL" sz="1600" b="1" dirty="0"/>
              <a:t> </a:t>
            </a:r>
            <a:endParaRPr lang="en-GB" sz="1600" b="1" dirty="0"/>
          </a:p>
          <a:p>
            <a:pPr lvl="1"/>
            <a:r>
              <a:rPr lang="en-NL" sz="1600" dirty="0"/>
              <a:t>✅ </a:t>
            </a:r>
            <a:r>
              <a:rPr lang="en-GB" sz="1600" dirty="0"/>
              <a:t>Judge correctness vs. </a:t>
            </a:r>
            <a:r>
              <a:rPr lang="en-GB" sz="1600" b="1" dirty="0"/>
              <a:t>GT 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b="1" dirty="0"/>
              <a:t>Task B)</a:t>
            </a:r>
            <a:r>
              <a:rPr lang="en-GB" sz="1600" b="1" dirty="0"/>
              <a:t> Citation Judge</a:t>
            </a:r>
            <a:endParaRPr lang="en-NL" sz="1600" b="1" dirty="0"/>
          </a:p>
          <a:p>
            <a:pPr lvl="1"/>
            <a:r>
              <a:rPr lang="en-NL" sz="1600" dirty="0"/>
              <a:t>✅ </a:t>
            </a:r>
            <a:r>
              <a:rPr lang="en-GB" sz="1600" dirty="0"/>
              <a:t>Judge citation vs. </a:t>
            </a:r>
            <a:r>
              <a:rPr lang="en-GB" sz="1600" b="1" dirty="0"/>
              <a:t>GT Lit</a:t>
            </a:r>
          </a:p>
          <a:p>
            <a:pPr lvl="1"/>
            <a:r>
              <a:rPr lang="en-NL" sz="1600" dirty="0"/>
              <a:t>❌ </a:t>
            </a:r>
            <a:r>
              <a:rPr lang="en-GB" sz="1600" dirty="0"/>
              <a:t>Judge citation vs. </a:t>
            </a:r>
            <a:r>
              <a:rPr lang="en-GB" sz="1600" b="1" dirty="0"/>
              <a:t>GT Synth </a:t>
            </a:r>
            <a:r>
              <a:rPr lang="en-GB" sz="1600" dirty="0"/>
              <a:t>(not done)</a:t>
            </a:r>
            <a:endParaRPr lang="en-NL" sz="1600" dirty="0"/>
          </a:p>
          <a:p>
            <a:endParaRPr lang="en-NL" sz="1600" b="1" dirty="0"/>
          </a:p>
          <a:p>
            <a:endParaRPr lang="en-NL" sz="1600" b="1" dirty="0"/>
          </a:p>
          <a:p>
            <a:r>
              <a:rPr lang="en-GB" sz="1600" b="1" dirty="0"/>
              <a:t>Judge Performance Metrics:</a:t>
            </a:r>
            <a:endParaRPr lang="en-NL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AUC-ROC:</a:t>
            </a:r>
            <a:r>
              <a:rPr lang="en-GB" sz="1600" dirty="0"/>
              <a:t> Area under ROC curve (Judge score vs. hallucination status)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Correlation (r):</a:t>
            </a:r>
            <a:r>
              <a:rPr lang="en-GB" sz="1600" dirty="0"/>
              <a:t> Pearson correlation between judge score and hallucination label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Threshold-based Classification (Judge score &lt; 0.5 = Hallucination):</a:t>
            </a:r>
            <a:endParaRPr lang="en-NL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F1 Score:</a:t>
            </a:r>
            <a:r>
              <a:rPr lang="en-GB" sz="1600" dirty="0"/>
              <a:t> Harmonic mean of </a:t>
            </a:r>
            <a:r>
              <a:rPr lang="en-GB" sz="1600" b="1" dirty="0"/>
              <a:t>precision</a:t>
            </a:r>
            <a:r>
              <a:rPr lang="en-GB" sz="1600" dirty="0"/>
              <a:t> </a:t>
            </a:r>
            <a:r>
              <a:rPr lang="en-GB" sz="1600" i="1" dirty="0"/>
              <a:t>TP / (TP + FP</a:t>
            </a:r>
            <a:r>
              <a:rPr lang="en-GB" sz="1600" dirty="0"/>
              <a:t>)</a:t>
            </a:r>
            <a:r>
              <a:rPr lang="en-NL" sz="1600" dirty="0"/>
              <a:t> </a:t>
            </a:r>
            <a:r>
              <a:rPr lang="en-GB" sz="1600" dirty="0"/>
              <a:t>and </a:t>
            </a:r>
            <a:r>
              <a:rPr lang="en-GB" sz="1600" b="1" dirty="0"/>
              <a:t>recall</a:t>
            </a:r>
            <a:r>
              <a:rPr lang="en-NL" sz="1600" dirty="0"/>
              <a:t> </a:t>
            </a:r>
            <a:r>
              <a:rPr lang="en-GB" sz="1600" i="1" dirty="0"/>
              <a:t>TP / (TP + FN)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lvl="0"/>
            <a:endParaRPr lang="en-NL" sz="1600" b="1" dirty="0"/>
          </a:p>
          <a:p>
            <a:endParaRPr lang="en-NL" sz="1600" dirty="0"/>
          </a:p>
        </p:txBody>
      </p:sp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86CDA845-E524-266F-EE74-D8877B5BA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9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DB82-028D-B939-BF33-248EB6A6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9896-02FC-586E-6E40-8A14552E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Formulation experiments results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D4AD545-DD2C-3EA9-2B7B-1D67D91AC7A4}"/>
              </a:ext>
            </a:extLst>
          </p:cNvPr>
          <p:cNvSpPr txBox="1">
            <a:spLocks/>
          </p:cNvSpPr>
          <p:nvPr/>
        </p:nvSpPr>
        <p:spPr>
          <a:xfrm>
            <a:off x="3217069" y="60344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Corrupted = True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0, </a:t>
            </a:r>
            <a:r>
              <a:rPr lang="en-NL" sz="1400" dirty="0" err="1"/>
              <a:t>top_p</a:t>
            </a:r>
            <a:r>
              <a:rPr lang="en-NL" sz="1400" dirty="0"/>
              <a:t> = 1 		</a:t>
            </a:r>
          </a:p>
          <a:p>
            <a:pPr marL="0" indent="0">
              <a:buNone/>
            </a:pPr>
            <a:endParaRPr lang="en-NL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92D8DC-CFCF-820A-33EC-4F31C4168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39" y="-192953"/>
            <a:ext cx="10402922" cy="5798350"/>
          </a:xfrm>
          <a:prstGeom prst="rect">
            <a:avLst/>
          </a:prstGeom>
        </p:spPr>
      </p:pic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616A00CA-3082-09E9-C531-40B34F1389D7}"/>
              </a:ext>
            </a:extLst>
          </p:cNvPr>
          <p:cNvSpPr txBox="1">
            <a:spLocks/>
          </p:cNvSpPr>
          <p:nvPr/>
        </p:nvSpPr>
        <p:spPr>
          <a:xfrm>
            <a:off x="3217069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3</a:t>
            </a:r>
            <a:r>
              <a:rPr lang="en-GB" sz="1300" dirty="0"/>
              <a:t> per prompt &amp; per CLD</a:t>
            </a:r>
            <a:r>
              <a:rPr lang="en-NL" sz="1300" dirty="0"/>
              <a:t> </a:t>
            </a:r>
          </a:p>
          <a:p>
            <a:pPr marL="0" indent="0">
              <a:buNone/>
            </a:pPr>
            <a:endParaRPr lang="en-NL" sz="13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D23C413-E185-E971-BAFF-16721D1F55B9}"/>
              </a:ext>
            </a:extLst>
          </p:cNvPr>
          <p:cNvSpPr txBox="1">
            <a:spLocks/>
          </p:cNvSpPr>
          <p:nvPr/>
        </p:nvSpPr>
        <p:spPr>
          <a:xfrm>
            <a:off x="126442" y="-63962"/>
            <a:ext cx="120655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RQ1a: </a:t>
            </a:r>
            <a:r>
              <a:rPr lang="en-NL" dirty="0"/>
              <a:t>Correctness Judge vs. Synthetic Corruption</a:t>
            </a:r>
            <a:endParaRPr lang="en-GB" dirty="0"/>
          </a:p>
        </p:txBody>
      </p:sp>
      <p:pic>
        <p:nvPicPr>
          <p:cNvPr id="3" name="Picture 2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A288D6F7-C4C9-AECA-F239-F7ECF93C1A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1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E472-2846-09B9-BB79-B84F9AD4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5C1A-062F-9015-D782-326BAC70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23" y="147299"/>
            <a:ext cx="12786969" cy="1325563"/>
          </a:xfrm>
        </p:spPr>
        <p:txBody>
          <a:bodyPr/>
          <a:lstStyle/>
          <a:p>
            <a:r>
              <a:rPr lang="en-NL" dirty="0"/>
              <a:t>Results </a:t>
            </a:r>
            <a:r>
              <a:rPr lang="en-GB" dirty="0"/>
              <a:t>RQ1a: </a:t>
            </a:r>
            <a:r>
              <a:rPr lang="en-NL" dirty="0"/>
              <a:t>Correctness Judge vs. Synthetic Corruption</a:t>
            </a:r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E17A20C-B21F-1821-9B90-F36FA26D0F7C}"/>
              </a:ext>
            </a:extLst>
          </p:cNvPr>
          <p:cNvSpPr txBox="1">
            <a:spLocks/>
          </p:cNvSpPr>
          <p:nvPr/>
        </p:nvSpPr>
        <p:spPr>
          <a:xfrm>
            <a:off x="2920570" y="6034484"/>
            <a:ext cx="8818721" cy="6762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corrupted = True, </a:t>
            </a:r>
            <a:r>
              <a:rPr lang="en-NL" sz="1400" b="1" dirty="0"/>
              <a:t>Judge score</a:t>
            </a:r>
            <a:r>
              <a:rPr lang="en-NL" sz="1400" dirty="0"/>
              <a:t>: (0 = incorrect, 0.5 = </a:t>
            </a:r>
            <a:r>
              <a:rPr lang="en-NL" sz="1400" dirty="0" err="1"/>
              <a:t>partially_correct</a:t>
            </a:r>
            <a:r>
              <a:rPr lang="en-NL" sz="1400" dirty="0"/>
              <a:t>, 1 = correct)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0, </a:t>
            </a:r>
            <a:r>
              <a:rPr lang="en-NL" sz="1400" dirty="0" err="1"/>
              <a:t>top_p</a:t>
            </a:r>
            <a:r>
              <a:rPr lang="en-NL" sz="1400" dirty="0"/>
              <a:t> = 1, corruption rate= 0.3, corruption temperature = default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7E82BE93-019D-D86D-21B3-04BB0BB17D05}"/>
              </a:ext>
            </a:extLst>
          </p:cNvPr>
          <p:cNvSpPr txBox="1">
            <a:spLocks/>
          </p:cNvSpPr>
          <p:nvPr/>
        </p:nvSpPr>
        <p:spPr>
          <a:xfrm>
            <a:off x="2920570" y="65805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3</a:t>
            </a:r>
            <a:r>
              <a:rPr lang="en-GB" sz="1300" dirty="0"/>
              <a:t> per prompt &amp; per CLD </a:t>
            </a:r>
            <a:endParaRPr lang="en-NL" sz="1300" dirty="0"/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6ACE7B-339F-059E-14A0-954635D6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479265-7B49-177C-CE14-56DC91E8A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B6BBB2-FE76-2980-5DE4-F65867356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212" y="1438575"/>
            <a:ext cx="5682105" cy="4435521"/>
          </a:xfrm>
          <a:prstGeom prst="rect">
            <a:avLst/>
          </a:prstGeom>
        </p:spPr>
      </p:pic>
      <p:pic>
        <p:nvPicPr>
          <p:cNvPr id="3" name="Picture 2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B9102BC1-05F9-5673-27FF-3157BA7352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6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E39D-89F4-A0F3-C66E-C77445D0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C191-39C3-ED1A-4867-9250AF0C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4" y="365124"/>
            <a:ext cx="11648846" cy="1325563"/>
          </a:xfrm>
        </p:spPr>
        <p:txBody>
          <a:bodyPr/>
          <a:lstStyle/>
          <a:p>
            <a:r>
              <a:rPr lang="en-NL" dirty="0"/>
              <a:t>Results </a:t>
            </a:r>
            <a:r>
              <a:rPr lang="en-GB" dirty="0"/>
              <a:t>RQ1a: </a:t>
            </a:r>
            <a:r>
              <a:rPr lang="en-NL" dirty="0"/>
              <a:t>Correctness Judge vs. Lit. Ground Truth</a:t>
            </a:r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9CFFE3C-2D9A-5CD8-618A-ECB12909975E}"/>
              </a:ext>
            </a:extLst>
          </p:cNvPr>
          <p:cNvSpPr txBox="1">
            <a:spLocks/>
          </p:cNvSpPr>
          <p:nvPr/>
        </p:nvSpPr>
        <p:spPr>
          <a:xfrm>
            <a:off x="3217069" y="60344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0, </a:t>
            </a:r>
            <a:r>
              <a:rPr lang="en-NL" sz="1400" dirty="0" err="1"/>
              <a:t>top_p</a:t>
            </a:r>
            <a:r>
              <a:rPr lang="en-NL" sz="1400" dirty="0"/>
              <a:t> = 1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98AB0489-01FC-F3C3-D89B-3D921721A8CF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3</a:t>
            </a:r>
            <a:r>
              <a:rPr lang="en-GB" sz="1300" dirty="0"/>
              <a:t> per prompt &amp; per CLD</a:t>
            </a:r>
            <a:r>
              <a:rPr lang="en-NL" sz="1300" dirty="0"/>
              <a:t> </a:t>
            </a:r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568C90-DC51-2205-EEB4-19298C2D6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614F7F-1679-EB2F-446F-85B2D33E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97B811-3CD2-0DCF-3CCB-C68711FD0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80" y="1986268"/>
            <a:ext cx="8516539" cy="36866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38B89A-5942-31EA-5A6C-BBA6C31169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60CE14-641E-D950-3A4D-7DD452944F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EAE38F-9AD1-CA27-1044-3C268A58E4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288" y="1438575"/>
            <a:ext cx="686264" cy="4295503"/>
          </a:xfrm>
          <a:prstGeom prst="rect">
            <a:avLst/>
          </a:prstGeom>
        </p:spPr>
      </p:pic>
      <p:pic>
        <p:nvPicPr>
          <p:cNvPr id="3" name="Picture 2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B7359186-4275-ED3D-D69F-1FA216C14F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7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A984-25FD-D2CA-2050-069EC603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9AB4410-2890-1882-E0FB-5C5245A3792F}"/>
              </a:ext>
            </a:extLst>
          </p:cNvPr>
          <p:cNvSpPr txBox="1">
            <a:spLocks/>
          </p:cNvSpPr>
          <p:nvPr/>
        </p:nvSpPr>
        <p:spPr>
          <a:xfrm>
            <a:off x="3217069" y="60344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9BD53F98-D3DA-78FB-00B5-356DAEC32B03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Runs </a:t>
            </a:r>
            <a:r>
              <a:rPr lang="en-GB" sz="1400" dirty="0"/>
              <a:t>= </a:t>
            </a:r>
            <a:r>
              <a:rPr lang="en-NL" sz="1400" dirty="0"/>
              <a:t>3</a:t>
            </a:r>
            <a:r>
              <a:rPr lang="en-GB" sz="1400" dirty="0"/>
              <a:t> per prompt &amp; per CLD</a:t>
            </a:r>
            <a:r>
              <a:rPr lang="en-NL" sz="1400" dirty="0"/>
              <a:t> </a:t>
            </a:r>
          </a:p>
          <a:p>
            <a:pPr marL="0" indent="0">
              <a:buNone/>
            </a:pPr>
            <a:endParaRPr lang="en-NL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D9CCEF-8916-6CA4-248D-75348BC21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2E0350-4A0C-C5EA-3E6B-E851C075C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DDEA99-8457-01CD-9699-657BC1F11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0FD263-B512-996E-3468-609E09FF3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B4EA07-F11E-6645-1B1B-EE1BAF701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C7BC398-935A-BA86-0CC0-87C9491B088F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RQ1a: Citation</a:t>
            </a:r>
            <a:r>
              <a:rPr lang="en-NL" dirty="0"/>
              <a:t> Judge vs. Lit. Ground Truth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561F65-6272-6367-AEF8-449A1D7E49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1" y="1584641"/>
            <a:ext cx="4588260" cy="39617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417E64-E773-6211-A48E-6837EFF2A6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047" y="1390943"/>
            <a:ext cx="5010358" cy="4295497"/>
          </a:xfrm>
          <a:prstGeom prst="rect">
            <a:avLst/>
          </a:prstGeom>
        </p:spPr>
      </p:pic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DFB54347-11CD-DAA6-00A7-2A753B5D9B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3DBB-1D6A-E3FD-9EC5-BB103475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FC44D2F-BA77-649C-2E3F-83E1F3DF99AD}"/>
              </a:ext>
            </a:extLst>
          </p:cNvPr>
          <p:cNvSpPr txBox="1">
            <a:spLocks/>
          </p:cNvSpPr>
          <p:nvPr/>
        </p:nvSpPr>
        <p:spPr>
          <a:xfrm>
            <a:off x="3217069" y="60344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9F5D7213-6C95-F907-7D63-6B3861EC74EA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3</a:t>
            </a:r>
            <a:r>
              <a:rPr lang="en-GB" sz="1300" dirty="0"/>
              <a:t> per prompt &amp; per CLD</a:t>
            </a:r>
            <a:r>
              <a:rPr lang="en-NL" sz="1300" dirty="0"/>
              <a:t> </a:t>
            </a:r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1144F8-EDBC-CBE8-C65C-8E297C5B2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9B5875-7E7F-87E2-031B-960BF5C3D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ED6888-924F-54C5-AC38-83235F92B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A25FC0-F661-D558-FDC0-7C70DEE379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7718AF-AAFB-13BA-5C2D-3CD1560EB0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1E14853-E77D-6AD8-B63A-4707696F9DC0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RQ1a: Citation</a:t>
            </a:r>
            <a:r>
              <a:rPr lang="en-NL" dirty="0"/>
              <a:t> Judge vs. Lit. Ground Truth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D76A44-1F57-00DF-CAD0-4F988F41C0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1" y="1584641"/>
            <a:ext cx="4588260" cy="39617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EA8257-EF1D-166D-17AD-28CF86E83A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047" y="1390943"/>
            <a:ext cx="5010358" cy="4295497"/>
          </a:xfrm>
          <a:prstGeom prst="rect">
            <a:avLst/>
          </a:prstGeom>
        </p:spPr>
      </p:pic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73E408E8-5B8C-1297-EDA2-B105E1BAC6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09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2DA4-B9CF-0A77-3250-1AFF8039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140658F-A719-FE6F-3BD0-2CE2A7109B34}"/>
              </a:ext>
            </a:extLst>
          </p:cNvPr>
          <p:cNvSpPr txBox="1">
            <a:spLocks/>
          </p:cNvSpPr>
          <p:nvPr/>
        </p:nvSpPr>
        <p:spPr>
          <a:xfrm>
            <a:off x="3217069" y="60344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F14E1338-43E0-AE3A-AE84-8CDBE52F6FFD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3</a:t>
            </a:r>
            <a:r>
              <a:rPr lang="en-GB" sz="1300" dirty="0"/>
              <a:t> per prompt &amp; per CLD </a:t>
            </a:r>
            <a:r>
              <a:rPr lang="en-NL" sz="1300" dirty="0"/>
              <a:t> </a:t>
            </a:r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1EFBA7-0397-6B6D-76AA-C55BD215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22E948-64C6-F13E-CC96-9116D290F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EE21C2-54EC-E860-9223-0ECAB44BE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59555C-D849-F7A5-2E13-78301D76FD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A3C2BE-3FFB-C7A7-F7FE-B78897A0A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8844421-8BD3-3CF9-1ACB-54AC0DA34B8B}"/>
              </a:ext>
            </a:extLst>
          </p:cNvPr>
          <p:cNvSpPr txBox="1">
            <a:spLocks/>
          </p:cNvSpPr>
          <p:nvPr/>
        </p:nvSpPr>
        <p:spPr>
          <a:xfrm>
            <a:off x="679688" y="264438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RQ1a: Citation</a:t>
            </a:r>
            <a:r>
              <a:rPr lang="en-NL" dirty="0"/>
              <a:t> Judge vs. Lit. Ground Truth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A6AED-FF3F-3350-4039-9C151D2142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615" y="1311562"/>
            <a:ext cx="4950258" cy="40255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9372B2-24B1-531D-F1B0-6A37DADB32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728" y="1374272"/>
            <a:ext cx="5022447" cy="4382796"/>
          </a:xfrm>
          <a:prstGeom prst="rect">
            <a:avLst/>
          </a:prstGeom>
        </p:spPr>
      </p:pic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608350EF-A20B-F405-5256-74B87E6241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259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6BA0E-7B9B-EF23-F33B-6EFB8F6A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99556149-B47F-B78C-FB68-37BC509867F6}"/>
              </a:ext>
            </a:extLst>
          </p:cNvPr>
          <p:cNvSpPr txBox="1">
            <a:spLocks/>
          </p:cNvSpPr>
          <p:nvPr/>
        </p:nvSpPr>
        <p:spPr>
          <a:xfrm>
            <a:off x="3217069" y="60344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14FCBDFE-1B3C-00C1-87C2-81A22529A67E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as indicated</a:t>
            </a:r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59D16C-CB9B-DC60-BDD5-577ADD4B5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3EAD44-732F-53F7-18D2-8ED8C924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F9135F-B11C-F440-EC6F-1EB120A0C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58A3C6-790B-BA22-F2CB-22DD37A82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92A8C88-B747-38FC-BB4B-7DAE00D5C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2D1850E-0F5F-5426-3035-157BA0F04D1E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RQ1a:</a:t>
            </a:r>
            <a:r>
              <a:rPr lang="en-NL" dirty="0"/>
              <a:t> Human Validation</a:t>
            </a:r>
            <a:endParaRPr lang="en-GB" dirty="0"/>
          </a:p>
        </p:txBody>
      </p:sp>
      <p:pic>
        <p:nvPicPr>
          <p:cNvPr id="5" name="Picture 4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32B9AA0D-7808-7CFD-2F4B-1C27F7AE71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ABCC6-8316-19EF-7D21-C35192232E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6554" y="4432578"/>
            <a:ext cx="5535764" cy="1564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BE7E9F-8C8C-54CF-407E-DE60AC0C3C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847" y="1729769"/>
            <a:ext cx="9112584" cy="237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7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DCF0B-D05B-6DFC-ACC3-4E7A7029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5F7CD37-E2E6-CC5F-4268-75C5ABF0039B}"/>
              </a:ext>
            </a:extLst>
          </p:cNvPr>
          <p:cNvSpPr txBox="1">
            <a:spLocks/>
          </p:cNvSpPr>
          <p:nvPr/>
        </p:nvSpPr>
        <p:spPr>
          <a:xfrm>
            <a:off x="3217069" y="6034484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NL" sz="1400" dirty="0"/>
              <a:t>Judging</a:t>
            </a:r>
            <a:r>
              <a:rPr lang="en-GB" sz="1400" dirty="0"/>
              <a:t> LLM: gpt-4.</a:t>
            </a:r>
            <a:r>
              <a:rPr lang="en-NL" sz="1400" dirty="0"/>
              <a:t>1</a:t>
            </a:r>
            <a:r>
              <a:rPr lang="en-GB" sz="1400" dirty="0"/>
              <a:t>, temperature=0.</a:t>
            </a:r>
            <a:r>
              <a:rPr lang="en-NL" sz="1400" dirty="0"/>
              <a:t>0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F9445B0-88FE-5C51-5179-BB074A34B50F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1, using judging baseline prompt, </a:t>
            </a:r>
            <a:r>
              <a:rPr lang="en-NL" sz="1300" dirty="0" err="1"/>
              <a:t>Ulemans</a:t>
            </a:r>
            <a:r>
              <a:rPr lang="en-NL" sz="1300" dirty="0"/>
              <a:t> CLD</a:t>
            </a:r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19BA98-DCDD-4191-3C9F-15ED551B5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E613FA-7F99-0435-DACA-F08D9C1EC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5E70D9-101D-21E3-EE58-F19945ACF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8D6404D-DEA3-D2FF-1044-6C80A060B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46FC86-C130-55F6-1129-311E1FA9F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1DB3AD7-6D34-D011-59B5-EA139F1633E1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RQ1a: Citation</a:t>
            </a:r>
            <a:r>
              <a:rPr lang="en-NL" dirty="0"/>
              <a:t> Judge vs. Lit. Ground Truth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8E0DF-3525-45DE-E7BB-9617C98F5E5A}"/>
              </a:ext>
            </a:extLst>
          </p:cNvPr>
          <p:cNvSpPr txBox="1"/>
          <p:nvPr/>
        </p:nvSpPr>
        <p:spPr>
          <a:xfrm>
            <a:off x="827615" y="155289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800" b="1" dirty="0"/>
              <a:t>Search provider comparison (</a:t>
            </a:r>
            <a:r>
              <a:rPr lang="en-NL" sz="1800" b="1" dirty="0" err="1"/>
              <a:t>Ulemans</a:t>
            </a:r>
            <a:r>
              <a:rPr lang="en-NL" sz="1800" b="1" dirty="0"/>
              <a:t> CLD)</a:t>
            </a:r>
            <a:endParaRPr lang="en-GB" sz="1800" dirty="0"/>
          </a:p>
        </p:txBody>
      </p:sp>
      <p:pic>
        <p:nvPicPr>
          <p:cNvPr id="5" name="Picture 4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7BC25628-FE49-E2BA-F6B5-6A94FC7994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B80FBA-9D16-6F2A-B975-E6EB100A04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453" y="2011276"/>
            <a:ext cx="9773107" cy="240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43A6F-32E0-CB38-2802-E41AEFD1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63EAFD-F1C6-4338-9BD4-C3B4D7241351}"/>
              </a:ext>
            </a:extLst>
          </p:cNvPr>
          <p:cNvSpPr txBox="1"/>
          <p:nvPr/>
        </p:nvSpPr>
        <p:spPr>
          <a:xfrm>
            <a:off x="1680605" y="2890391"/>
            <a:ext cx="9532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b="1" dirty="0"/>
              <a:t>RQ1b) </a:t>
            </a:r>
            <a:r>
              <a:rPr lang="en-NL" sz="2400" dirty="0"/>
              <a:t>Can LLM-as-a-corrector improve hallucinations in LLM generated CLD edges?</a:t>
            </a:r>
          </a:p>
        </p:txBody>
      </p:sp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9F87A680-E347-7806-7724-92D9F85E6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0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E108D-B04E-6811-39D2-12015BB4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5BCDAC9-884F-B1DB-B1F2-5C340FFF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LLM-as-a-corrector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72BDB-BB7E-A670-7CA4-E65DD15318A9}"/>
              </a:ext>
            </a:extLst>
          </p:cNvPr>
          <p:cNvSpPr txBox="1"/>
          <p:nvPr/>
        </p:nvSpPr>
        <p:spPr>
          <a:xfrm>
            <a:off x="919224" y="1390531"/>
            <a:ext cx="953271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NL" b="1" dirty="0"/>
          </a:p>
          <a:p>
            <a:r>
              <a:rPr lang="en-NL" b="1" dirty="0"/>
              <a:t>LLM-as-a-corrector :</a:t>
            </a:r>
          </a:p>
          <a:p>
            <a:r>
              <a:rPr lang="en-GB" b="1" dirty="0"/>
              <a:t>I</a:t>
            </a:r>
            <a:r>
              <a:rPr lang="en-NL" b="1" dirty="0" err="1"/>
              <a:t>nput</a:t>
            </a:r>
            <a:r>
              <a:rPr lang="en-NL" b="1" dirty="0"/>
              <a:t>: </a:t>
            </a:r>
            <a:r>
              <a:rPr lang="en-NL" dirty="0"/>
              <a:t>variables, relationship type, causal narrative, and judgement from LLM-as-a-judge</a:t>
            </a:r>
          </a:p>
          <a:p>
            <a:endParaRPr lang="en-NL" b="1" dirty="0"/>
          </a:p>
          <a:p>
            <a:r>
              <a:rPr lang="en-NL" b="1" dirty="0"/>
              <a:t>Process: </a:t>
            </a:r>
            <a:r>
              <a:rPr lang="en-NL" dirty="0"/>
              <a:t>changes the edge by:</a:t>
            </a:r>
          </a:p>
          <a:p>
            <a:pPr lvl="1"/>
            <a:r>
              <a:rPr lang="en-NL" dirty="0"/>
              <a:t>a) </a:t>
            </a:r>
            <a:r>
              <a:rPr lang="en-NL" b="1" dirty="0"/>
              <a:t>Changing edge (relationship) type</a:t>
            </a:r>
            <a:r>
              <a:rPr lang="en-NL" dirty="0"/>
              <a:t>: e.g., None → Positive, Negative → None</a:t>
            </a:r>
          </a:p>
          <a:p>
            <a:pPr lvl="1"/>
            <a:r>
              <a:rPr lang="en-NL" dirty="0"/>
              <a:t>b) </a:t>
            </a:r>
            <a:r>
              <a:rPr lang="en-NL" b="1" dirty="0"/>
              <a:t>Revising motivation</a:t>
            </a:r>
            <a:r>
              <a:rPr lang="en-NL" dirty="0"/>
              <a:t>: rewriting the causal narrative with improved reasoning/evidence</a:t>
            </a:r>
            <a:endParaRPr lang="en-NL" b="1" dirty="0"/>
          </a:p>
          <a:p>
            <a:endParaRPr lang="en-NL" b="1" dirty="0"/>
          </a:p>
          <a:p>
            <a:r>
              <a:rPr lang="en-NL" b="1" dirty="0"/>
              <a:t>Output:</a:t>
            </a:r>
          </a:p>
          <a:p>
            <a:r>
              <a:rPr lang="en-NL" dirty="0"/>
              <a:t>Edge with a) or b) changed</a:t>
            </a:r>
          </a:p>
          <a:p>
            <a:br>
              <a:rPr lang="en-GB" sz="2400" dirty="0"/>
            </a:br>
            <a:endParaRPr lang="en-GB" sz="2400" dirty="0"/>
          </a:p>
        </p:txBody>
      </p:sp>
      <p:pic>
        <p:nvPicPr>
          <p:cNvPr id="5" name="Picture 4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6A0EF831-8286-F115-F173-64EFD90A5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4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255D-8906-72FB-8CAA-C4A42D45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5C4D68B-CABC-B5E6-5CF1-AF7E3AC1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RQ1b: Experimental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CAAA3-D210-8719-FDF9-B9129B7C60C7}"/>
              </a:ext>
            </a:extLst>
          </p:cNvPr>
          <p:cNvSpPr txBox="1"/>
          <p:nvPr/>
        </p:nvSpPr>
        <p:spPr>
          <a:xfrm>
            <a:off x="1206636" y="1690688"/>
            <a:ext cx="95327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b="1" dirty="0">
                <a:solidFill>
                  <a:prstClr val="black"/>
                </a:solidFill>
                <a:latin typeface="Aptos" panose="02110004020202020204"/>
              </a:rPr>
              <a:t>Experiments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NL" dirty="0">
                <a:solidFill>
                  <a:prstClr val="black"/>
                </a:solidFill>
                <a:latin typeface="Aptos" panose="02110004020202020204"/>
              </a:rPr>
              <a:t>1 corrector prompts, 3 CLD’s, 3 runs, using </a:t>
            </a:r>
            <a:r>
              <a:rPr lang="en-NL" i="1" dirty="0">
                <a:solidFill>
                  <a:prstClr val="black"/>
                </a:solidFill>
                <a:latin typeface="Aptos" panose="02110004020202020204"/>
              </a:rPr>
              <a:t>best Judge prompt (ROC-AUC)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NL" dirty="0">
                <a:solidFill>
                  <a:prstClr val="black"/>
                </a:solidFill>
              </a:rPr>
              <a:t>✅ </a:t>
            </a:r>
            <a:r>
              <a:rPr lang="en-NL" dirty="0"/>
              <a:t>Corrector with correctness Judge input baseline vs. GT lit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NL" dirty="0">
                <a:solidFill>
                  <a:prstClr val="black"/>
                </a:solidFill>
              </a:rPr>
              <a:t>❌ </a:t>
            </a:r>
            <a:r>
              <a:rPr lang="en-NL" dirty="0"/>
              <a:t>Corrector with citation Judge input baseline vs. GT lit (using best Judge prompt)</a:t>
            </a:r>
          </a:p>
          <a:p>
            <a:pPr lvl="0"/>
            <a:r>
              <a:rPr lang="en-NL" dirty="0">
                <a:solidFill>
                  <a:prstClr val="black"/>
                </a:solidFill>
              </a:rPr>
              <a:t>❌ </a:t>
            </a:r>
            <a:r>
              <a:rPr lang="en-NL" dirty="0"/>
              <a:t>Corrector with citation Judge input baseline vs. GT synth</a:t>
            </a:r>
          </a:p>
          <a:p>
            <a:pPr lvl="0"/>
            <a:r>
              <a:rPr lang="en-NL" dirty="0"/>
              <a:t>🟨</a:t>
            </a:r>
            <a:r>
              <a:rPr lang="en-NL" dirty="0">
                <a:solidFill>
                  <a:prstClr val="black"/>
                </a:solidFill>
              </a:rPr>
              <a:t> </a:t>
            </a:r>
            <a:r>
              <a:rPr lang="en-NL" dirty="0"/>
              <a:t>Corrector with correctness Judge input baseline vs. GT synth</a:t>
            </a:r>
          </a:p>
          <a:p>
            <a:pPr lvl="0"/>
            <a:endParaRPr lang="en-NL" dirty="0"/>
          </a:p>
          <a:p>
            <a:pPr lvl="0"/>
            <a:r>
              <a:rPr lang="en-NL" i="1" dirty="0"/>
              <a:t>Note: Corrector not employed for citation </a:t>
            </a:r>
            <a:r>
              <a:rPr lang="en-NL" i="1" dirty="0" err="1"/>
              <a:t>cho</a:t>
            </a:r>
            <a:r>
              <a:rPr lang="en-GB" i="1" dirty="0" err="1"/>
              <a:t>ic</a:t>
            </a:r>
            <a:r>
              <a:rPr lang="en-NL" i="1" dirty="0"/>
              <a:t>e, as rejudging carries high cost</a:t>
            </a:r>
            <a:endParaRPr lang="en-NL" dirty="0"/>
          </a:p>
          <a:p>
            <a:pPr lvl="0"/>
            <a:endParaRPr lang="en-NL" dirty="0"/>
          </a:p>
          <a:p>
            <a:r>
              <a:rPr lang="en-NL" b="1" dirty="0"/>
              <a:t>Evaluation metrics per experiment:</a:t>
            </a:r>
            <a:endParaRPr lang="en-NL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Δ F1: F1(corrected CLD) - F1(original CLD) </a:t>
            </a:r>
            <a:r>
              <a:rPr lang="en-NL" dirty="0" err="1"/>
              <a:t>w.r.t.</a:t>
            </a:r>
            <a:r>
              <a:rPr lang="en-NL" dirty="0"/>
              <a:t> GT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Δ Precision, Δ Recall: Change in precision/recall after correction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Δ Judge Score: mean(judge score corrected edges) - mean(judge score original edges)</a:t>
            </a:r>
            <a:endParaRPr lang="en-NL" b="1" dirty="0">
              <a:solidFill>
                <a:prstClr val="black"/>
              </a:solidFill>
            </a:endParaRPr>
          </a:p>
          <a:p>
            <a:pPr lvl="0"/>
            <a:endParaRPr lang="en-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B45FE103-AC4C-E816-DF0D-4246E9821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0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CC7E-CFD2-6629-D09F-48FB89A5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ABCC25B-D21B-3C57-BD4D-A7E9A976181F}"/>
              </a:ext>
            </a:extLst>
          </p:cNvPr>
          <p:cNvSpPr txBox="1">
            <a:spLocks/>
          </p:cNvSpPr>
          <p:nvPr/>
        </p:nvSpPr>
        <p:spPr>
          <a:xfrm>
            <a:off x="3213585" y="5776176"/>
            <a:ext cx="8086657" cy="554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200" b="1" dirty="0"/>
              <a:t>Hallucination: </a:t>
            </a:r>
            <a:r>
              <a:rPr lang="en-NL" sz="1200" dirty="0"/>
              <a:t>FP or FN in ground truth</a:t>
            </a:r>
          </a:p>
          <a:p>
            <a:pPr marL="0" indent="0">
              <a:buNone/>
            </a:pPr>
            <a:r>
              <a:rPr lang="en-GB" sz="1200" b="1" dirty="0"/>
              <a:t>Key Parameters: </a:t>
            </a:r>
            <a:r>
              <a:rPr lang="en-GB" sz="1200" dirty="0"/>
              <a:t>Correcting LLM: gpt-4.</a:t>
            </a:r>
            <a:r>
              <a:rPr lang="en-NL" sz="1200" dirty="0"/>
              <a:t>1</a:t>
            </a:r>
            <a:r>
              <a:rPr lang="en-GB" sz="1200" dirty="0"/>
              <a:t>, temperature=0.7</a:t>
            </a:r>
          </a:p>
          <a:p>
            <a:pPr marL="0" indent="0">
              <a:buNone/>
            </a:pPr>
            <a:r>
              <a:rPr lang="en-GB" sz="1200" b="1" dirty="0"/>
              <a:t>Prompts: </a:t>
            </a:r>
            <a:r>
              <a:rPr lang="en-NL" sz="1200" dirty="0"/>
              <a:t>Baseline		</a:t>
            </a:r>
          </a:p>
          <a:p>
            <a:pPr marL="0" indent="0">
              <a:buNone/>
            </a:pPr>
            <a:endParaRPr lang="en-NL" sz="12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FA7C6A39-0393-BA78-1F7D-0C7B04B0043B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3</a:t>
            </a:r>
            <a:r>
              <a:rPr lang="en-GB" sz="1300" dirty="0"/>
              <a:t> per prompt &amp; per CLD </a:t>
            </a:r>
            <a:r>
              <a:rPr lang="en-NL" sz="1300" dirty="0"/>
              <a:t> </a:t>
            </a:r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A4E8AD-D79F-A836-6C94-D5EA3817A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F67B24-361D-3776-E65C-40FF99C63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FC7695-2873-2ABE-3250-523ADACD1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9C3AFF-8966-4198-56EB-0CE4BC0F8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5E6B62-121C-E803-2917-2F30CF2D7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214CB57-F43D-D893-AD61-0F29D777D2AC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RQ1b: Corrector vs. GT lit (correction Judge) </a:t>
            </a:r>
          </a:p>
        </p:txBody>
      </p:sp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8FC21DB1-508F-AAF4-1389-FFBFA687CE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9FB1B5-A3CF-B2A4-DF04-F975F7B718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541084"/>
            <a:ext cx="12192000" cy="17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80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60552-E7E7-AE14-662C-E2B44048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AC6925C-23A9-2A5F-5BA3-72B44289D4DA}"/>
              </a:ext>
            </a:extLst>
          </p:cNvPr>
          <p:cNvSpPr txBox="1">
            <a:spLocks/>
          </p:cNvSpPr>
          <p:nvPr/>
        </p:nvSpPr>
        <p:spPr>
          <a:xfrm>
            <a:off x="3213585" y="5776176"/>
            <a:ext cx="8086657" cy="554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200" b="1" dirty="0"/>
              <a:t>Hallucination: </a:t>
            </a:r>
            <a:r>
              <a:rPr lang="en-NL" sz="1200" dirty="0"/>
              <a:t>Corrupted = True</a:t>
            </a:r>
          </a:p>
          <a:p>
            <a:pPr marL="0" indent="0">
              <a:buNone/>
            </a:pPr>
            <a:r>
              <a:rPr lang="en-GB" sz="1200" b="1" dirty="0"/>
              <a:t>Key Parameters: </a:t>
            </a:r>
            <a:r>
              <a:rPr lang="en-GB" sz="1200" dirty="0"/>
              <a:t>Correcting LLM: gpt-4.</a:t>
            </a:r>
            <a:r>
              <a:rPr lang="en-NL" sz="1200" dirty="0"/>
              <a:t>1</a:t>
            </a:r>
            <a:r>
              <a:rPr lang="en-GB" sz="1200" dirty="0"/>
              <a:t>, temperature=0.7</a:t>
            </a:r>
          </a:p>
          <a:p>
            <a:pPr marL="0" indent="0">
              <a:buNone/>
            </a:pPr>
            <a:r>
              <a:rPr lang="en-GB" sz="1200" b="1" dirty="0"/>
              <a:t>Prompts: </a:t>
            </a:r>
            <a:r>
              <a:rPr lang="en-NL" sz="1200" dirty="0"/>
              <a:t>Baseline</a:t>
            </a:r>
          </a:p>
          <a:p>
            <a:pPr marL="0" indent="0">
              <a:buNone/>
            </a:pPr>
            <a:endParaRPr lang="en-NL" sz="12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3D340D7-2EB4-B6DE-CDBA-497359B3E81D}"/>
              </a:ext>
            </a:extLst>
          </p:cNvPr>
          <p:cNvSpPr txBox="1">
            <a:spLocks/>
          </p:cNvSpPr>
          <p:nvPr/>
        </p:nvSpPr>
        <p:spPr>
          <a:xfrm>
            <a:off x="3217068" y="658931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300" b="1" dirty="0"/>
              <a:t>Runs </a:t>
            </a:r>
            <a:r>
              <a:rPr lang="en-GB" sz="1300" dirty="0"/>
              <a:t>= </a:t>
            </a:r>
            <a:r>
              <a:rPr lang="en-NL" sz="1300" dirty="0"/>
              <a:t>3</a:t>
            </a:r>
            <a:r>
              <a:rPr lang="en-GB" sz="1300" dirty="0"/>
              <a:t> per prompt &amp; per CLD </a:t>
            </a:r>
            <a:r>
              <a:rPr lang="en-NL" sz="1300" dirty="0"/>
              <a:t> </a:t>
            </a:r>
          </a:p>
          <a:p>
            <a:pPr marL="0" indent="0">
              <a:buNone/>
            </a:pPr>
            <a:endParaRPr lang="en-NL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522EE5-66B8-4FBC-9F50-995097F97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AB8EBD-6784-566F-8F0C-74B4C1ABF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C43813-5C53-657A-BD9B-26C82613C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CB9FA6-DB0C-9095-94AF-8BA60BCAA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F5DE5C-F6DB-0FB4-FE42-012C1E635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1A5A77F-7DDC-81BA-1BA7-22A99E3CAC56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RQ1b: Corrector vs. GT </a:t>
            </a:r>
            <a:r>
              <a:rPr lang="en-NL" dirty="0"/>
              <a:t>synth</a:t>
            </a:r>
            <a:r>
              <a:rPr lang="en-GB" dirty="0"/>
              <a:t> (correction Judge) </a:t>
            </a:r>
          </a:p>
        </p:txBody>
      </p:sp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582CBE8A-1391-B0DD-31FB-F4A137B77D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876041-F56F-2360-6C0D-05C622841D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617177"/>
            <a:ext cx="12192000" cy="162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58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E430-879B-4402-ECC7-5B51FFB9E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81707A-C3C8-C570-CFD3-813AB1BFE428}"/>
              </a:ext>
            </a:extLst>
          </p:cNvPr>
          <p:cNvSpPr txBox="1"/>
          <p:nvPr/>
        </p:nvSpPr>
        <p:spPr>
          <a:xfrm>
            <a:off x="1680605" y="2890391"/>
            <a:ext cx="9532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b="1" dirty="0"/>
              <a:t>RQ2) </a:t>
            </a:r>
            <a:r>
              <a:rPr lang="en-NL" sz="2400" dirty="0"/>
              <a:t>Can generator logit derived metrics detect hallucinations in LLM generated edges?</a:t>
            </a:r>
          </a:p>
        </p:txBody>
      </p:sp>
      <p:pic>
        <p:nvPicPr>
          <p:cNvPr id="2" name="Picture 1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396E9574-3DB1-DF42-1A67-809D10580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2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FC85-4736-4178-333A-76B8469E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EECAE9A-1577-C3A6-56B0-969FB9C9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Definition Generator Logit Metrics</a:t>
            </a:r>
          </a:p>
        </p:txBody>
      </p:sp>
      <p:pic>
        <p:nvPicPr>
          <p:cNvPr id="81" name="Picture 80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4C871066-6107-D3E8-4AC5-849BF7BD0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ACE34B-73BC-8869-A64D-2BF265915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227" y="1577386"/>
            <a:ext cx="7439919" cy="467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20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7E56E0-A281-AFB0-527A-0042BE68A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0953783-D81E-5CB2-F3C3-4C64C4E56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Definition Generator Logit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9462F-3280-34F8-7EF9-04598E56E414}"/>
              </a:ext>
            </a:extLst>
          </p:cNvPr>
          <p:cNvSpPr txBox="1"/>
          <p:nvPr/>
        </p:nvSpPr>
        <p:spPr>
          <a:xfrm>
            <a:off x="838200" y="1536174"/>
            <a:ext cx="99609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Gen Perplexity</a:t>
            </a:r>
            <a:r>
              <a:rPr lang="en-GB" sz="2400" dirty="0"/>
              <a:t>: Exponential of average negative log-probability of generated tokens </a:t>
            </a:r>
            <a:endParaRPr lang="en-NL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Gen Min Prob: </a:t>
            </a:r>
            <a:r>
              <a:rPr lang="en-GB" sz="2400" dirty="0"/>
              <a:t>Minimum token probability in generation </a:t>
            </a:r>
            <a:endParaRPr lang="en-NL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Gen Max Window Entropy: </a:t>
            </a:r>
            <a:r>
              <a:rPr lang="en-GB" sz="2400" dirty="0"/>
              <a:t>Maximum entropy over sliding windows of generated tokens </a:t>
            </a:r>
            <a:endParaRPr lang="en-NL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Gen Cosine Similarity</a:t>
            </a:r>
            <a:r>
              <a:rPr lang="en-GB" sz="2400" dirty="0"/>
              <a:t>: Max cosine similarity between generated </a:t>
            </a:r>
            <a:r>
              <a:rPr lang="en-NL" sz="2400" dirty="0"/>
              <a:t>causal narrative</a:t>
            </a:r>
            <a:r>
              <a:rPr lang="en-GB" sz="2400" dirty="0"/>
              <a:t> embedding and fetched citation chunk embeddings</a:t>
            </a:r>
            <a:r>
              <a:rPr lang="en-NL" sz="2400" dirty="0"/>
              <a:t> (citations obtained by Brave Search on Causal narrative, max 5 articles)</a:t>
            </a:r>
          </a:p>
          <a:p>
            <a:br>
              <a:rPr lang="en-GB" sz="2400" dirty="0"/>
            </a:br>
            <a:endParaRPr lang="en-GB" sz="2400" dirty="0"/>
          </a:p>
        </p:txBody>
      </p:sp>
      <p:pic>
        <p:nvPicPr>
          <p:cNvPr id="81" name="Picture 80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38A43C1C-E2BE-0119-4A18-B1A98BA1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79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9AEB7-A4CF-5065-9C06-329F3F28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9CB860A2-568E-879F-BCFF-1E0062ECA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5679"/>
            <a:ext cx="1359343" cy="532321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C9CBAF8-7456-75E9-3E09-06656CCD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11" y="313918"/>
            <a:ext cx="10515600" cy="1325563"/>
          </a:xfrm>
        </p:spPr>
        <p:txBody>
          <a:bodyPr>
            <a:normAutofit/>
          </a:bodyPr>
          <a:lstStyle/>
          <a:p>
            <a:r>
              <a:rPr lang="en-NL" dirty="0"/>
              <a:t>RQ2: Experimental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443AC-CA03-87D5-8360-5CE20E8A9937}"/>
              </a:ext>
            </a:extLst>
          </p:cNvPr>
          <p:cNvSpPr txBox="1"/>
          <p:nvPr/>
        </p:nvSpPr>
        <p:spPr>
          <a:xfrm>
            <a:off x="765911" y="1027906"/>
            <a:ext cx="13268139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r>
              <a:rPr lang="en-NL" b="1" dirty="0"/>
              <a:t>Sample:</a:t>
            </a:r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pPr marL="342900" indent="-342900">
              <a:buAutoNum type="alphaLcParenR"/>
            </a:pPr>
            <a:r>
              <a:rPr lang="en-GB" b="1" dirty="0"/>
              <a:t>Phase </a:t>
            </a:r>
            <a:r>
              <a:rPr lang="en-NL" b="1" dirty="0"/>
              <a:t>1-3</a:t>
            </a:r>
            <a:r>
              <a:rPr lang="en-GB" b="1" dirty="0"/>
              <a:t>: S</a:t>
            </a:r>
            <a:r>
              <a:rPr lang="en-NL" b="1" dirty="0"/>
              <a:t>ingle Logit Metric Hallucination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Per file (N=63): AUC-ROC, Pearson r, t-test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Aggregate: mean AUC, mean r, </a:t>
            </a:r>
            <a:r>
              <a:rPr lang="en-NL" dirty="0"/>
              <a:t>T-test mean difference significant </a:t>
            </a:r>
            <a:r>
              <a:rPr lang="en-GB" dirty="0"/>
              <a:t>% </a:t>
            </a:r>
            <a:r>
              <a:rPr lang="en-NL" dirty="0"/>
              <a:t>of </a:t>
            </a:r>
            <a:r>
              <a:rPr lang="en-GB" dirty="0"/>
              <a:t>files</a:t>
            </a:r>
          </a:p>
          <a:p>
            <a:r>
              <a:rPr lang="en-GB" b="1" dirty="0"/>
              <a:t>b) Phase </a:t>
            </a:r>
            <a:r>
              <a:rPr lang="en-NL" b="1" dirty="0"/>
              <a:t>4</a:t>
            </a:r>
            <a:r>
              <a:rPr lang="en-GB" b="1" dirty="0"/>
              <a:t>: </a:t>
            </a:r>
            <a:r>
              <a:rPr lang="en-NL" b="1" dirty="0"/>
              <a:t>Ensemble Logit Metrics Hallucination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RFE Feature Selection</a:t>
            </a:r>
            <a:endParaRPr lang="en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Nested CV (5 outer × 3 inner)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Classifiers: </a:t>
            </a:r>
            <a:r>
              <a:rPr lang="en-GB" dirty="0" err="1"/>
              <a:t>LogReg</a:t>
            </a:r>
            <a:r>
              <a:rPr lang="en-GB" dirty="0"/>
              <a:t>, Random Forest, Gradient Boosting</a:t>
            </a:r>
            <a:r>
              <a:rPr lang="en-NL" dirty="0"/>
              <a:t>, </a:t>
            </a:r>
            <a:r>
              <a:rPr lang="en-NL" dirty="0" err="1"/>
              <a:t>NeuralNet</a:t>
            </a:r>
            <a:r>
              <a:rPr lang="en-NL" dirty="0"/>
              <a:t> not compatible with RFE</a:t>
            </a:r>
          </a:p>
          <a:p>
            <a:r>
              <a:rPr lang="en-GB" b="1" dirty="0"/>
              <a:t>c) Phase 5: Ensemble Comparison</a:t>
            </a:r>
            <a:endParaRPr lang="en-N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4 classifiers on 80/20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Metrics: AUC, Precision, Recall, F1</a:t>
            </a:r>
          </a:p>
          <a:p>
            <a:r>
              <a:rPr lang="en-GB" b="1" dirty="0"/>
              <a:t>d) Phase 6: Leave-One-CLD-Out</a:t>
            </a:r>
            <a:endParaRPr lang="en-N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Train on 2 CLDs → Test on 1 CLD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Cross-domain generalization assessment</a:t>
            </a:r>
            <a:br>
              <a:rPr lang="en-NL" dirty="0"/>
            </a:br>
            <a:endParaRPr kumimoji="0" lang="en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r>
              <a:rPr lang="en-NL" sz="1400" dirty="0">
                <a:solidFill>
                  <a:prstClr val="black"/>
                </a:solidFill>
                <a:latin typeface="Aptos" panose="02110004020202020204"/>
              </a:rPr>
              <a:t>	Note: </a:t>
            </a:r>
            <a:r>
              <a:rPr lang="en-NL" sz="1400" i="1" dirty="0"/>
              <a:t>cosine only on citation judge &amp; no synthetic corruption as generator logits don’t capture inserted hallucinations through corruption</a:t>
            </a:r>
            <a:endParaRPr kumimoji="0" lang="en-NL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738A1-40C6-DB77-362A-E585C320C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4075392" cy="90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0D37-7AC7-4AFC-63D7-6768B0772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BBF8C890-3E25-D443-7C1A-5872F3406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048181C-F397-10C1-1424-82360CAC5BB0}"/>
              </a:ext>
            </a:extLst>
          </p:cNvPr>
          <p:cNvSpPr txBox="1">
            <a:spLocks/>
          </p:cNvSpPr>
          <p:nvPr/>
        </p:nvSpPr>
        <p:spPr>
          <a:xfrm>
            <a:off x="3217067" y="5691122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Generator LLM: gpt-4.</a:t>
            </a:r>
            <a:r>
              <a:rPr lang="en-NL" sz="1400" dirty="0"/>
              <a:t>1</a:t>
            </a:r>
            <a:r>
              <a:rPr lang="en-GB" sz="1400" dirty="0"/>
              <a:t>, temperature=0.7</a:t>
            </a:r>
            <a:r>
              <a:rPr lang="en-NL" sz="1400" dirty="0"/>
              <a:t>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59544098-2E55-34C6-CCAE-2728231C5A66}"/>
              </a:ext>
            </a:extLst>
          </p:cNvPr>
          <p:cNvSpPr txBox="1">
            <a:spLocks/>
          </p:cNvSpPr>
          <p:nvPr/>
        </p:nvSpPr>
        <p:spPr>
          <a:xfrm>
            <a:off x="3217066" y="6206165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Runs </a:t>
            </a:r>
            <a:r>
              <a:rPr lang="en-GB" sz="1400" b="1" dirty="0"/>
              <a:t>= </a:t>
            </a:r>
            <a:r>
              <a:rPr lang="en-NL" sz="1400" b="1" dirty="0"/>
              <a:t>63</a:t>
            </a:r>
            <a:r>
              <a:rPr lang="en-GB" sz="1400" dirty="0"/>
              <a:t>, across all 3 CLD’</a:t>
            </a:r>
            <a:r>
              <a:rPr lang="en-NL" sz="1400" dirty="0"/>
              <a:t>s</a:t>
            </a:r>
          </a:p>
          <a:p>
            <a:pPr marL="0" indent="0">
              <a:buNone/>
            </a:pPr>
            <a:r>
              <a:rPr lang="en-GB" sz="1400" b="1" dirty="0"/>
              <a:t>Important </a:t>
            </a:r>
            <a:r>
              <a:rPr lang="en-GB" sz="1400" dirty="0"/>
              <a:t>=</a:t>
            </a:r>
            <a:r>
              <a:rPr lang="en-GB" sz="1400" b="1" dirty="0"/>
              <a:t> </a:t>
            </a:r>
            <a:r>
              <a:rPr lang="en-GB" sz="1400" dirty="0"/>
              <a:t>NO CROSS VALIDATION YET</a:t>
            </a:r>
            <a:endParaRPr lang="en-NL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AD2388-DA92-054B-EA82-357A62D1D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88F05F-ADFE-4BC4-1AFA-9DE55A8ED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1CA371-9518-E7FD-BAF5-B3AA5E182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C96BFD-D3D0-FB57-0C3A-F47878F9E5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F00DBC-18C2-F03E-A1B9-BDE5631EED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D6E626-61BA-9C13-F513-D3A5CD71487F}"/>
              </a:ext>
            </a:extLst>
          </p:cNvPr>
          <p:cNvSpPr txBox="1">
            <a:spLocks/>
          </p:cNvSpPr>
          <p:nvPr/>
        </p:nvSpPr>
        <p:spPr>
          <a:xfrm>
            <a:off x="271577" y="174991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3600" dirty="0"/>
              <a:t>Results </a:t>
            </a:r>
            <a:r>
              <a:rPr lang="en-GB" sz="3600" dirty="0"/>
              <a:t>RQ2: S</a:t>
            </a:r>
            <a:r>
              <a:rPr lang="en-NL" sz="3600" dirty="0"/>
              <a:t>ingle Logit Metric Hallucination classification</a:t>
            </a:r>
            <a:endParaRPr lang="en-GB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309CD-7931-FDF4-6D3D-413DC826BF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305" y="1538419"/>
            <a:ext cx="4929710" cy="39771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5E09F9-4BD0-68F4-34CE-C876197672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4962" y="1428309"/>
            <a:ext cx="7954485" cy="1047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5A1246F-A7B3-3AAD-CDAD-5E436A4240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8022" y="1729673"/>
            <a:ext cx="5942342" cy="3594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9D65634-6C0F-5986-FC5F-13EFF74490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059507" y="1464327"/>
            <a:ext cx="6468378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57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271D8-32CD-C942-0323-D4B9C45D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62D2BCFE-31CA-CAA9-63A1-ED783DD48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9D49BD31-CAAA-F916-9D8B-786713BE4E17}"/>
              </a:ext>
            </a:extLst>
          </p:cNvPr>
          <p:cNvSpPr txBox="1">
            <a:spLocks/>
          </p:cNvSpPr>
          <p:nvPr/>
        </p:nvSpPr>
        <p:spPr>
          <a:xfrm>
            <a:off x="3217067" y="5691122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Generator LLM: gpt-4.</a:t>
            </a:r>
            <a:r>
              <a:rPr lang="en-NL" sz="1400" dirty="0"/>
              <a:t>1</a:t>
            </a:r>
            <a:r>
              <a:rPr lang="en-GB" sz="1400" dirty="0"/>
              <a:t>, temperature=0.7</a:t>
            </a:r>
            <a:r>
              <a:rPr lang="en-NL" sz="1400" dirty="0"/>
              <a:t>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56AB1F7-6C34-419B-05DF-EB0597FF294D}"/>
              </a:ext>
            </a:extLst>
          </p:cNvPr>
          <p:cNvSpPr txBox="1">
            <a:spLocks/>
          </p:cNvSpPr>
          <p:nvPr/>
        </p:nvSpPr>
        <p:spPr>
          <a:xfrm>
            <a:off x="3217066" y="6206165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Runs </a:t>
            </a:r>
            <a:r>
              <a:rPr lang="en-GB" sz="1400" b="1" dirty="0"/>
              <a:t>= </a:t>
            </a:r>
            <a:r>
              <a:rPr lang="en-NL" sz="1400" dirty="0"/>
              <a:t>63</a:t>
            </a:r>
            <a:r>
              <a:rPr lang="en-GB" sz="1400" dirty="0"/>
              <a:t>, across all 3 CLD’</a:t>
            </a:r>
            <a:r>
              <a:rPr lang="en-NL" sz="1400" dirty="0"/>
              <a:t>s</a:t>
            </a:r>
          </a:p>
          <a:p>
            <a:pPr marL="0" indent="0">
              <a:buNone/>
            </a:pPr>
            <a:r>
              <a:rPr lang="en-GB" sz="1400" b="1" dirty="0"/>
              <a:t>Important </a:t>
            </a:r>
            <a:r>
              <a:rPr lang="en-GB" sz="1400" dirty="0"/>
              <a:t>=</a:t>
            </a:r>
            <a:r>
              <a:rPr lang="en-NL" sz="1400" b="1" dirty="0"/>
              <a:t> </a:t>
            </a:r>
            <a:r>
              <a:rPr lang="en-NL" sz="1400" dirty="0"/>
              <a:t>No leave-one-CLD out validation yet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08F9B-E99A-BDB8-1ADD-E3B5D37FB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E79854-86A0-041F-D3A4-97618348B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628787-EEE2-54EC-DB75-58DC18E4D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3A6241-87D9-353B-C8FF-B93319A072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2EA3A7-F14B-F72A-CE17-450B3BDB3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85DC66-7D83-D89C-DDDD-E019D528E31C}"/>
              </a:ext>
            </a:extLst>
          </p:cNvPr>
          <p:cNvSpPr txBox="1">
            <a:spLocks/>
          </p:cNvSpPr>
          <p:nvPr/>
        </p:nvSpPr>
        <p:spPr>
          <a:xfrm>
            <a:off x="271577" y="174991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3600" dirty="0"/>
              <a:t>Results </a:t>
            </a:r>
            <a:r>
              <a:rPr lang="en-GB" sz="3600" dirty="0"/>
              <a:t>RQ2: R</a:t>
            </a:r>
            <a:r>
              <a:rPr lang="en-NL" sz="3600" dirty="0"/>
              <a:t>FE</a:t>
            </a:r>
            <a:endParaRPr lang="en-GB" sz="3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CB251C-6194-CB7D-F8A5-CED5FA11DD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4962" y="1428309"/>
            <a:ext cx="7954485" cy="1047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65E84DC-0E5A-8180-BBE9-DD9E27F938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059507" y="1464327"/>
            <a:ext cx="6468378" cy="133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333775-302B-448A-C8C5-8BFFC3EFC6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794" y="1395626"/>
            <a:ext cx="4565261" cy="42954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8AF0A1-D135-4398-75B9-AFB96EE347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0055" y="1390943"/>
            <a:ext cx="6975021" cy="412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87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37BF-9F72-92C6-1F4C-7AD5F2713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361C0EB4-E94D-EBA7-DDAE-AEA52A666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D58D541-BC63-F5D8-6F04-5269179A37AC}"/>
              </a:ext>
            </a:extLst>
          </p:cNvPr>
          <p:cNvSpPr txBox="1">
            <a:spLocks/>
          </p:cNvSpPr>
          <p:nvPr/>
        </p:nvSpPr>
        <p:spPr>
          <a:xfrm>
            <a:off x="3217067" y="5691122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Generator LLM: gpt-4.</a:t>
            </a:r>
            <a:r>
              <a:rPr lang="en-NL" sz="1400" dirty="0"/>
              <a:t>1</a:t>
            </a:r>
            <a:r>
              <a:rPr lang="en-GB" sz="1400" dirty="0"/>
              <a:t>, temperature=0.7</a:t>
            </a:r>
            <a:r>
              <a:rPr lang="en-NL" sz="1400" dirty="0"/>
              <a:t>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CA49E52D-7C8C-EA43-B2F5-B1A99378D370}"/>
              </a:ext>
            </a:extLst>
          </p:cNvPr>
          <p:cNvSpPr txBox="1">
            <a:spLocks/>
          </p:cNvSpPr>
          <p:nvPr/>
        </p:nvSpPr>
        <p:spPr>
          <a:xfrm>
            <a:off x="3217066" y="6206165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Runs </a:t>
            </a:r>
            <a:r>
              <a:rPr lang="en-GB" sz="1400" b="1" dirty="0"/>
              <a:t>= </a:t>
            </a:r>
            <a:r>
              <a:rPr lang="en-NL" sz="1400" dirty="0"/>
              <a:t>63</a:t>
            </a:r>
            <a:r>
              <a:rPr lang="en-GB" sz="1400" dirty="0"/>
              <a:t>, across all 3 CLD’s</a:t>
            </a:r>
            <a:br>
              <a:rPr lang="en-GB" sz="1400" dirty="0"/>
            </a:br>
            <a:r>
              <a:rPr lang="en-GB" sz="1400" b="1" dirty="0"/>
              <a:t>Important </a:t>
            </a:r>
            <a:r>
              <a:rPr lang="en-GB" sz="1400" dirty="0"/>
              <a:t>=</a:t>
            </a:r>
            <a:r>
              <a:rPr lang="en-NL" sz="1400" b="1" dirty="0"/>
              <a:t> </a:t>
            </a:r>
            <a:r>
              <a:rPr lang="en-NL" sz="1400" dirty="0"/>
              <a:t>No leave-one-CLD out validation yet</a:t>
            </a:r>
          </a:p>
          <a:p>
            <a:pPr marL="0" indent="0">
              <a:buNone/>
            </a:pPr>
            <a:endParaRPr lang="en-NL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313F3E-D810-11A4-518B-61B2859C4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7F5853-6B45-6F10-FB2B-18D7ACA34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2209" y="1302519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0E20FE-E9A0-4C3D-689C-7EEB60A74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E8DCCD-B9AE-D2E3-309A-94D71E557D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651478-D611-99DE-6814-8C02803EF8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7DD16A8-1749-69F0-0788-38C4BEC2D261}"/>
              </a:ext>
            </a:extLst>
          </p:cNvPr>
          <p:cNvSpPr txBox="1">
            <a:spLocks/>
          </p:cNvSpPr>
          <p:nvPr/>
        </p:nvSpPr>
        <p:spPr>
          <a:xfrm>
            <a:off x="160925" y="40348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3600" dirty="0"/>
              <a:t>Results </a:t>
            </a:r>
            <a:r>
              <a:rPr lang="en-GB" sz="3600" dirty="0"/>
              <a:t>RQ2: E</a:t>
            </a:r>
            <a:r>
              <a:rPr lang="en-NL" sz="3600" dirty="0" err="1"/>
              <a:t>nsemble</a:t>
            </a:r>
            <a:r>
              <a:rPr lang="en-NL" sz="3600" dirty="0"/>
              <a:t> Hallucination classification</a:t>
            </a:r>
            <a:endParaRPr lang="en-GB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172C2C-98DF-96C3-EC5C-46309114C0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302" y="1504202"/>
            <a:ext cx="5088267" cy="4105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89BA9-485D-FCE0-8747-385C843553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1632" y="1207062"/>
            <a:ext cx="5515167" cy="44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D88D-0086-B696-3D6C-C5548263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65C45A51-5BDF-826A-F74B-AB10AEBA6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4B93D06-4180-DFB8-3042-5D28D378EE94}"/>
              </a:ext>
            </a:extLst>
          </p:cNvPr>
          <p:cNvSpPr txBox="1">
            <a:spLocks/>
          </p:cNvSpPr>
          <p:nvPr/>
        </p:nvSpPr>
        <p:spPr>
          <a:xfrm>
            <a:off x="3217067" y="5691122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Generator LLM: gpt-4.</a:t>
            </a:r>
            <a:r>
              <a:rPr lang="en-NL" sz="1400" dirty="0"/>
              <a:t>1</a:t>
            </a:r>
            <a:r>
              <a:rPr lang="en-GB" sz="1400" dirty="0"/>
              <a:t>, temperature=0.7</a:t>
            </a:r>
            <a:r>
              <a:rPr lang="en-NL" sz="1400" dirty="0"/>
              <a:t>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7AE300DE-4DBE-BD5F-3395-6B52E172EC62}"/>
              </a:ext>
            </a:extLst>
          </p:cNvPr>
          <p:cNvSpPr txBox="1">
            <a:spLocks/>
          </p:cNvSpPr>
          <p:nvPr/>
        </p:nvSpPr>
        <p:spPr>
          <a:xfrm>
            <a:off x="3217066" y="6206165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Runs </a:t>
            </a:r>
            <a:r>
              <a:rPr lang="en-GB" sz="1400" b="1" dirty="0"/>
              <a:t>= </a:t>
            </a:r>
            <a:r>
              <a:rPr lang="en-GB" sz="1400" dirty="0"/>
              <a:t>56, across all 3 CLD’s</a:t>
            </a:r>
            <a:endParaRPr lang="en-NL" sz="1400" dirty="0"/>
          </a:p>
          <a:p>
            <a:pPr marL="0" indent="0">
              <a:buNone/>
            </a:pPr>
            <a:endParaRPr lang="en-NL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7BE28-CA59-DE97-97C8-78DE3CC25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0CDAB0-A27F-1327-CC9B-51205C0CF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B8567D-D332-17C3-1208-E64F3E9C1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CCA5B6-2632-28C4-FB85-115E533435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4A56B1-141F-C8C9-9674-1C74FBBFA4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7EC7033-0EAB-8387-9C00-7B246633A8BD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RQ2: </a:t>
            </a:r>
            <a:r>
              <a:rPr lang="en-NL" dirty="0"/>
              <a:t>Ensemble </a:t>
            </a:r>
            <a:r>
              <a:rPr lang="en-NL" dirty="0" err="1"/>
              <a:t>Halucination</a:t>
            </a:r>
            <a:r>
              <a:rPr lang="en-NL" dirty="0"/>
              <a:t> classification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671A9E-554B-C8F1-FDF6-C2BADB867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8674" y="1450428"/>
            <a:ext cx="5013006" cy="41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20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52B0-D8D4-C4BF-1A1A-F491F5CB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E30CE6DE-CF6F-0ADE-2BD1-10208B059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B56322A-47E4-A2DA-0112-D016E0739E1A}"/>
              </a:ext>
            </a:extLst>
          </p:cNvPr>
          <p:cNvSpPr txBox="1">
            <a:spLocks/>
          </p:cNvSpPr>
          <p:nvPr/>
        </p:nvSpPr>
        <p:spPr>
          <a:xfrm>
            <a:off x="3217067" y="5691122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Hallucination: </a:t>
            </a:r>
            <a:r>
              <a:rPr lang="en-NL" sz="1400" dirty="0"/>
              <a:t>FP or FN in ground truth</a:t>
            </a:r>
          </a:p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Generator LLM: gpt-4.</a:t>
            </a:r>
            <a:r>
              <a:rPr lang="en-NL" sz="1400" dirty="0"/>
              <a:t>1</a:t>
            </a:r>
            <a:r>
              <a:rPr lang="en-GB" sz="1400" dirty="0"/>
              <a:t>, temperature=0.7</a:t>
            </a:r>
            <a:r>
              <a:rPr lang="en-NL" sz="1400" dirty="0"/>
              <a:t> 		</a:t>
            </a:r>
          </a:p>
          <a:p>
            <a:pPr marL="0" indent="0">
              <a:buNone/>
            </a:pPr>
            <a:endParaRPr lang="en-NL" sz="1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50D1109-46A5-61B2-AECB-B9804B3ED5A8}"/>
              </a:ext>
            </a:extLst>
          </p:cNvPr>
          <p:cNvSpPr txBox="1">
            <a:spLocks/>
          </p:cNvSpPr>
          <p:nvPr/>
        </p:nvSpPr>
        <p:spPr>
          <a:xfrm>
            <a:off x="3217066" y="6206165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400" b="1" dirty="0"/>
              <a:t>Runs </a:t>
            </a:r>
            <a:r>
              <a:rPr lang="en-GB" sz="1400" b="1" dirty="0"/>
              <a:t>= </a:t>
            </a:r>
            <a:r>
              <a:rPr lang="en-GB" sz="1400" dirty="0"/>
              <a:t>56, across all 3 CLD’s</a:t>
            </a:r>
            <a:br>
              <a:rPr lang="en-GB" sz="1400" dirty="0"/>
            </a:br>
            <a:r>
              <a:rPr lang="en-GB" sz="1400" b="1" dirty="0"/>
              <a:t>Important </a:t>
            </a:r>
            <a:r>
              <a:rPr lang="en-GB" sz="1400" dirty="0"/>
              <a:t>=</a:t>
            </a:r>
            <a:r>
              <a:rPr lang="en-GB" sz="1400" b="1" dirty="0"/>
              <a:t> </a:t>
            </a:r>
            <a:r>
              <a:rPr lang="en-GB" sz="1400" dirty="0"/>
              <a:t>NO CROSS VALIDATION YET</a:t>
            </a:r>
            <a:endParaRPr lang="en-NL" sz="1400" dirty="0"/>
          </a:p>
          <a:p>
            <a:pPr marL="0" indent="0">
              <a:buNone/>
            </a:pPr>
            <a:endParaRPr lang="en-NL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7B0AFC-7EA5-C79B-C5C2-E2E9F1DCE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682" y="1343312"/>
            <a:ext cx="2762636" cy="95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210E6A-C791-F1C7-D8A9-D01633B48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207" y="1311562"/>
            <a:ext cx="3524742" cy="20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C89DAD-0C8D-A264-3FB3-0B9C86210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8" y="1616354"/>
            <a:ext cx="9440277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2262C3-8978-5B6B-F629-BCDE6720D6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816" y="2293820"/>
            <a:ext cx="686263" cy="4295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C96743-68A5-4157-1ED8-344B61B5AF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2" y="1204635"/>
            <a:ext cx="771633" cy="48298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FACDDF-FA13-4BB7-5B7D-FC3BA7618751}"/>
              </a:ext>
            </a:extLst>
          </p:cNvPr>
          <p:cNvSpPr txBox="1">
            <a:spLocks/>
          </p:cNvSpPr>
          <p:nvPr/>
        </p:nvSpPr>
        <p:spPr>
          <a:xfrm>
            <a:off x="381305" y="325166"/>
            <a:ext cx="116488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dirty="0"/>
              <a:t>Results </a:t>
            </a:r>
            <a:r>
              <a:rPr lang="en-GB" dirty="0"/>
              <a:t>RQ2: Logit + Cosine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A55F65-3A94-17D3-571F-AD39901E5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798" y="1378911"/>
            <a:ext cx="9683931" cy="550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66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4E7D9-56B7-2A07-286C-CF74E463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17092C73-F6CD-FC7D-8767-577850732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9" y="6178359"/>
            <a:ext cx="1606306" cy="6290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4F8B29-5D5B-BB87-901D-319553B4142B}"/>
              </a:ext>
            </a:extLst>
          </p:cNvPr>
          <p:cNvSpPr txBox="1"/>
          <p:nvPr/>
        </p:nvSpPr>
        <p:spPr>
          <a:xfrm>
            <a:off x="1739126" y="2828835"/>
            <a:ext cx="9532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b="1" dirty="0"/>
              <a:t>RQ3) </a:t>
            </a:r>
            <a:r>
              <a:rPr lang="en-GB" sz="2400" dirty="0"/>
              <a:t>Can </a:t>
            </a:r>
            <a:r>
              <a:rPr lang="en-NL" sz="2400" dirty="0"/>
              <a:t>generator logit </a:t>
            </a:r>
            <a:r>
              <a:rPr lang="en-GB" sz="2400" dirty="0"/>
              <a:t>metrics when used as hallucination indicators be used to deploy test-time compute to correct hallucinations </a:t>
            </a:r>
            <a:r>
              <a:rPr lang="en-NL" sz="2400" dirty="0"/>
              <a:t>in CLD edges </a:t>
            </a:r>
            <a:r>
              <a:rPr lang="en-GB" sz="2400" dirty="0"/>
              <a:t>more efficiently?</a:t>
            </a:r>
            <a:endParaRPr lang="en-NL" sz="2400" b="1" dirty="0"/>
          </a:p>
        </p:txBody>
      </p:sp>
    </p:spTree>
    <p:extLst>
      <p:ext uri="{BB962C8B-B14F-4D97-AF65-F5344CB8AC3E}">
        <p14:creationId xmlns:p14="http://schemas.microsoft.com/office/powerpoint/2010/main" val="306294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B6CD-C1EA-C70B-586A-B6B26E9D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3392-4D9E-38F7-FBF7-4FE52D2C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Experiment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C9EA66A4-BC2D-F2B0-2BE2-4F9688206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808809-56B1-E599-E99A-6A307B4D1424}"/>
              </a:ext>
            </a:extLst>
          </p:cNvPr>
          <p:cNvSpPr txBox="1"/>
          <p:nvPr/>
        </p:nvSpPr>
        <p:spPr>
          <a:xfrm>
            <a:off x="919991" y="1581330"/>
            <a:ext cx="95327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2400" b="1" dirty="0"/>
              <a:t>RQ3) </a:t>
            </a:r>
            <a:r>
              <a:rPr lang="en-GB" sz="2400" dirty="0"/>
              <a:t>P</a:t>
            </a:r>
            <a:r>
              <a:rPr lang="en-NL" sz="2400" dirty="0" err="1"/>
              <a:t>roblem</a:t>
            </a:r>
            <a:r>
              <a:rPr lang="en-NL" sz="2400" dirty="0"/>
              <a:t>: Corrector does not improve quality, deploying it “smartly” based on logit won’t increase CLD quality meaningfully.</a:t>
            </a:r>
          </a:p>
          <a:p>
            <a:endParaRPr lang="en-NL" sz="2400" dirty="0"/>
          </a:p>
          <a:p>
            <a:endParaRPr lang="en-NL" sz="2400" dirty="0"/>
          </a:p>
          <a:p>
            <a:r>
              <a:rPr lang="en-NL" sz="2400" dirty="0"/>
              <a:t>Maybe instead we can investigate what happens if we perform a deeper search, to find causal evidence for FPs generated by the system -&gt;</a:t>
            </a:r>
            <a:br>
              <a:rPr lang="en-NL" sz="2400" dirty="0"/>
            </a:br>
            <a:r>
              <a:rPr lang="en-NL" sz="2400" dirty="0"/>
              <a:t>If found, this would indicate </a:t>
            </a:r>
            <a:r>
              <a:rPr lang="en-NL" sz="2400" b="1" dirty="0"/>
              <a:t>GT Lit </a:t>
            </a:r>
            <a:r>
              <a:rPr lang="en-NL" sz="2400" dirty="0"/>
              <a:t>are to sparse</a:t>
            </a:r>
          </a:p>
        </p:txBody>
      </p:sp>
    </p:spTree>
    <p:extLst>
      <p:ext uri="{BB962C8B-B14F-4D97-AF65-F5344CB8AC3E}">
        <p14:creationId xmlns:p14="http://schemas.microsoft.com/office/powerpoint/2010/main" val="169474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96E50-9BBE-8442-2CD5-BB2B9120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4E72-38B2-1EE1-359B-B6B61612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-158335"/>
            <a:ext cx="10515600" cy="1325563"/>
          </a:xfrm>
        </p:spPr>
        <p:txBody>
          <a:bodyPr>
            <a:normAutofit/>
          </a:bodyPr>
          <a:lstStyle/>
          <a:p>
            <a:r>
              <a:rPr lang="en-NL" dirty="0"/>
              <a:t>RQ 3 alternative: Deep Research system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94268744-B1B8-BA15-F5A8-C5C7E6C1F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53B559-8811-69A5-3A8F-FE9B7C91F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864382"/>
            <a:ext cx="5693757" cy="2564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D40010-1C08-C50B-788B-8877B85C4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600" y="3429000"/>
            <a:ext cx="5715000" cy="2649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1CD5DE-7119-364F-E189-175398389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241" y="6078820"/>
            <a:ext cx="5612262" cy="7136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509E5C-EEED-B0AD-8612-55AE53A04C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4015" y="1722321"/>
            <a:ext cx="333422" cy="48679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46C3E3-6465-1D4D-FC7D-1C8B900FE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5308" y="1624921"/>
            <a:ext cx="333422" cy="48679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7D58AC-C2D0-F9FE-8B30-EB6F1489B6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1633" y="612136"/>
            <a:ext cx="421529" cy="69995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D6BEB4-B4E0-13BE-8677-03EF923857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4436" y="779180"/>
            <a:ext cx="421529" cy="699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89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ABCD-4E52-3C8D-2481-ECCC0D8EA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67B7-3447-F0AF-F6D3-4F226874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0888"/>
            <a:ext cx="10515600" cy="1325563"/>
          </a:xfrm>
        </p:spPr>
        <p:txBody>
          <a:bodyPr>
            <a:normAutofit/>
          </a:bodyPr>
          <a:lstStyle/>
          <a:p>
            <a:r>
              <a:rPr lang="en-NL" dirty="0"/>
              <a:t>RQ3: Deep Research system Results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90E248EE-8FB4-81BE-8F65-C3B7FF90D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257879-CB92-2E19-BC1A-7084A4215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015" y="1722321"/>
            <a:ext cx="333422" cy="48679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6C1D0E-510D-A9C5-5370-0D35DA650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308" y="1624921"/>
            <a:ext cx="333422" cy="4867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20294-C0B0-2747-5E7E-B16995BEB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607" y="2852609"/>
            <a:ext cx="491558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469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62AB-A271-89E5-1342-BEF8377B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ED60A-6FA2-FD47-7B93-A5AAEBF7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Discussion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66BD3FFE-2E56-033C-A489-676DDA085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6E26ED-A0E9-8893-027B-CA7800FBE30E}"/>
              </a:ext>
            </a:extLst>
          </p:cNvPr>
          <p:cNvSpPr txBox="1"/>
          <p:nvPr/>
        </p:nvSpPr>
        <p:spPr>
          <a:xfrm>
            <a:off x="924827" y="1690688"/>
            <a:ext cx="95327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RQ1a: Prompting matters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RQ1a: Performance of judge on synthetic hallucinations is good, but != performance on real hallucinations.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RQ1a: Citation Judge differences between True/False classes a lot smaller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RQ1a: </a:t>
            </a:r>
            <a:r>
              <a:rPr lang="en-GB" dirty="0"/>
              <a:t>D</a:t>
            </a:r>
            <a:r>
              <a:rPr lang="en-NL" dirty="0" err="1"/>
              <a:t>ifference</a:t>
            </a:r>
            <a:r>
              <a:rPr lang="en-NL" dirty="0"/>
              <a:t> </a:t>
            </a:r>
            <a:r>
              <a:rPr lang="en-NL" dirty="0" err="1"/>
              <a:t>w.r.t.</a:t>
            </a:r>
            <a:r>
              <a:rPr lang="en-NL" dirty="0"/>
              <a:t> GT lit may not be a good hallucination measure if GT lit to sparse, more research needed (manual check on Deep Research FP’s)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RQ1a: Validation shows judge alignment with human, search provider performs adequate, and CLD with validated references also sometimes cite “less-than-causal” evidence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RQ1b: Corrector doesn’t meaningfully improve CLD quality w.r.t GT Lit using current measures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RQ2: Logit based Metrics have limiting single feature but good ensemble performance in distribution, but only weakly generalize when leaving CLD’s out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RQ3: Since corrector doesn’t work, smartly deploying it wont improve quality. Deep Research may find stronger causal evidence for FP, which could support enriching ground truths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NL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7847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9318-BF95-45A8-85BB-007F5586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C23F-4081-098B-1C48-33EBD4AC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Limitations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055808A6-756D-2ED4-7AE8-7C9F98073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E953DC-9686-7305-95F6-3EC5C84BC722}"/>
              </a:ext>
            </a:extLst>
          </p:cNvPr>
          <p:cNvSpPr txBox="1"/>
          <p:nvPr/>
        </p:nvSpPr>
        <p:spPr>
          <a:xfrm>
            <a:off x="924827" y="1690688"/>
            <a:ext cx="95327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Single model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Corrupt vs. Synth GT is not same (known, but acknowledge)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Limited temp/</a:t>
            </a:r>
            <a:r>
              <a:rPr lang="en-NL" dirty="0" err="1"/>
              <a:t>top_p</a:t>
            </a:r>
            <a:r>
              <a:rPr lang="en-NL" dirty="0"/>
              <a:t> parameter exploration, argue temp less influential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Limited human validation samples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Budget limitation, corrupter + snippets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Local embedding model, limited retrieval precision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Confirmation bias in search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Logit + cosine metrics may not generalize out of distribution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CLD’s only in health domain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Limited stochasticity control (3 runs per combination), however large number of edges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NL" dirty="0"/>
              <a:t>Search provider judgement heterogeneity</a:t>
            </a:r>
          </a:p>
        </p:txBody>
      </p:sp>
    </p:spTree>
    <p:extLst>
      <p:ext uri="{BB962C8B-B14F-4D97-AF65-F5344CB8AC3E}">
        <p14:creationId xmlns:p14="http://schemas.microsoft.com/office/powerpoint/2010/main" val="20869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2649-2FCE-6717-94FF-4624FAD01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4138-FA9F-DC1F-71AA-6D723C72A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959" y="1619796"/>
            <a:ext cx="9692081" cy="2387600"/>
          </a:xfrm>
        </p:spPr>
        <p:txBody>
          <a:bodyPr>
            <a:normAutofit/>
          </a:bodyPr>
          <a:lstStyle/>
          <a:p>
            <a:r>
              <a:rPr lang="en-NL" sz="4400" dirty="0"/>
              <a:t>Appendix &amp; Misc results</a:t>
            </a:r>
            <a:endParaRPr lang="en-GB" sz="4400" dirty="0"/>
          </a:p>
        </p:txBody>
      </p:sp>
      <p:pic>
        <p:nvPicPr>
          <p:cNvPr id="5" name="Picture 4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42511280-B580-897E-E658-DD6BAB65B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54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67D9-DE01-EC86-30B5-F8C3A56E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1595-3ADB-5432-AE53-42E09A52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Generator </a:t>
            </a:r>
            <a:r>
              <a:rPr lang="en-NL" dirty="0" err="1"/>
              <a:t>Tempertaure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8595F787-D186-096B-8E4D-3A566A222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B23C0A-A1A1-EBF2-01F3-08E845CF8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8347" y="1685044"/>
            <a:ext cx="6773472" cy="3851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6179CC-2EF8-2517-C825-718E57576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148" y="1618368"/>
            <a:ext cx="5315345" cy="377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81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C66F-ADFB-8D24-10D1-D99A2B8D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E61DE272-4C59-772D-26D1-8AA4E3D1D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0C45B7-06C6-B63D-0371-8D3CBC74D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37" y="181674"/>
            <a:ext cx="10928319" cy="603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433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477E-BA7B-2455-4C27-40566D76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A47A-824B-AA55-07F3-4706495A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Formulation experiments 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BF3F-F2DE-B901-A343-1407E2AEE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269" y="2389981"/>
            <a:ext cx="10515600" cy="435133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112B5EF2-BA8D-1A28-35FE-03F5388BAA6B}"/>
              </a:ext>
            </a:extLst>
          </p:cNvPr>
          <p:cNvSpPr txBox="1">
            <a:spLocks/>
          </p:cNvSpPr>
          <p:nvPr/>
        </p:nvSpPr>
        <p:spPr>
          <a:xfrm>
            <a:off x="1360056" y="5857451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Generating LLM: OpenAI gpt-4.1, no web search, no judging,  temperature=0.7         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05DDFAC-2610-0A9A-1B69-2B3E74932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838"/>
            <a:ext cx="12192000" cy="6304323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CB42AB8-BD3C-841A-09B8-7A42C69178E2}"/>
              </a:ext>
            </a:extLst>
          </p:cNvPr>
          <p:cNvSpPr txBox="1">
            <a:spLocks/>
          </p:cNvSpPr>
          <p:nvPr/>
        </p:nvSpPr>
        <p:spPr>
          <a:xfrm>
            <a:off x="2873083" y="6521258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Generating LLM: OpenAI gpt-4.1, no web search, no judging,  temperature=0.7         </a:t>
            </a:r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D3DCA658-A895-F0E1-6C6B-E77317C49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97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A891E-4289-5D5D-487D-06E43153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8470-DCE0-DD4E-6502-EB50BAAB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97"/>
            <a:ext cx="10515600" cy="1325563"/>
          </a:xfrm>
        </p:spPr>
        <p:txBody>
          <a:bodyPr/>
          <a:lstStyle/>
          <a:p>
            <a:r>
              <a:rPr lang="en-NL" dirty="0"/>
              <a:t>Node prompt ablation study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7C91B387-518A-A3B1-7BDF-08CFE3DEE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9F877-DECF-8FB1-7D01-11AE9D1B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269" y="2389981"/>
            <a:ext cx="10515600" cy="435133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4069FC7-49FE-9DFD-1208-CE730446C390}"/>
              </a:ext>
            </a:extLst>
          </p:cNvPr>
          <p:cNvSpPr txBox="1">
            <a:spLocks/>
          </p:cNvSpPr>
          <p:nvPr/>
        </p:nvSpPr>
        <p:spPr>
          <a:xfrm>
            <a:off x="1360056" y="5857451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Generating LLM: OpenAI gpt-4.1, no web search, no judging,  temperature=0.7    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613943-8244-61AB-379F-314010043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36" y="2275272"/>
            <a:ext cx="9850225" cy="3381847"/>
          </a:xfrm>
          <a:prstGeom prst="rect">
            <a:avLst/>
          </a:prstGeom>
        </p:spPr>
      </p:pic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4918090-AFEB-E6D2-C149-8F5AAE223F56}"/>
              </a:ext>
            </a:extLst>
          </p:cNvPr>
          <p:cNvSpPr txBox="1">
            <a:spLocks/>
          </p:cNvSpPr>
          <p:nvPr/>
        </p:nvSpPr>
        <p:spPr>
          <a:xfrm>
            <a:off x="1304636" y="1498076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2600" b="1" dirty="0"/>
              <a:t>Experimental setup: </a:t>
            </a:r>
            <a:r>
              <a:rPr lang="en-GB" sz="2600" dirty="0"/>
              <a:t>7 prompts × 3 CLDs × 5 runs = 105 experiments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089725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FA5A-E966-AF64-88C0-2E9D7D08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970-DC6E-82A6-488B-195079C5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97"/>
            <a:ext cx="10515600" cy="1325563"/>
          </a:xfrm>
        </p:spPr>
        <p:txBody>
          <a:bodyPr/>
          <a:lstStyle/>
          <a:p>
            <a:r>
              <a:rPr lang="en-NL" dirty="0"/>
              <a:t>Edge ablation study</a:t>
            </a:r>
            <a:endParaRPr lang="en-GB" dirty="0"/>
          </a:p>
        </p:txBody>
      </p:sp>
      <p:pic>
        <p:nvPicPr>
          <p:cNvPr id="4" name="Picture 3" descr="A logo with a blue and white design&#10;&#10;Description automatically generated">
            <a:extLst>
              <a:ext uri="{FF2B5EF4-FFF2-40B4-BE49-F238E27FC236}">
                <a16:creationId xmlns:a16="http://schemas.microsoft.com/office/drawing/2014/main" id="{72C501EC-50BA-9745-5FEC-4EC2DFA44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8" y="5968538"/>
            <a:ext cx="2266309" cy="88749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4F747-6AE8-29CD-147C-16D2EFC43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269" y="2389981"/>
            <a:ext cx="10515600" cy="435133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1F637534-3D9C-D4C7-0987-3270CD099C5B}"/>
              </a:ext>
            </a:extLst>
          </p:cNvPr>
          <p:cNvSpPr txBox="1">
            <a:spLocks/>
          </p:cNvSpPr>
          <p:nvPr/>
        </p:nvSpPr>
        <p:spPr>
          <a:xfrm>
            <a:off x="1360056" y="5857451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/>
              <a:t>Key Parameters: </a:t>
            </a:r>
            <a:r>
              <a:rPr lang="en-GB" sz="1400" dirty="0"/>
              <a:t>Generating LLM: OpenAI gpt-4.1, no web search, no judging,  temperature=0.7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A1E08-444C-C3B5-E93F-297BB4EE4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06" y="1555776"/>
            <a:ext cx="9850225" cy="4248743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74CA4468-074F-686B-101E-25E06418407F}"/>
              </a:ext>
            </a:extLst>
          </p:cNvPr>
          <p:cNvSpPr txBox="1">
            <a:spLocks/>
          </p:cNvSpPr>
          <p:nvPr/>
        </p:nvSpPr>
        <p:spPr>
          <a:xfrm>
            <a:off x="894985" y="1203732"/>
            <a:ext cx="7755731" cy="554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2600" b="1" dirty="0"/>
              <a:t>Experimental setup: </a:t>
            </a:r>
            <a:r>
              <a:rPr lang="en-NL" sz="2600" dirty="0"/>
              <a:t>9</a:t>
            </a:r>
            <a:r>
              <a:rPr lang="en-GB" sz="2600" dirty="0"/>
              <a:t> prompts × 3 CLDs × </a:t>
            </a:r>
            <a:r>
              <a:rPr lang="en-NL" sz="2600" dirty="0"/>
              <a:t>1</a:t>
            </a:r>
            <a:r>
              <a:rPr lang="en-GB" sz="2600" dirty="0"/>
              <a:t> runs = </a:t>
            </a:r>
            <a:r>
              <a:rPr lang="en-NL" sz="2600" dirty="0"/>
              <a:t>27</a:t>
            </a:r>
            <a:r>
              <a:rPr lang="en-GB" sz="2600" dirty="0"/>
              <a:t> experiments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55775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4389</TotalTime>
  <Words>2453</Words>
  <Application>Microsoft Office PowerPoint</Application>
  <PresentationFormat>Widescreen</PresentationFormat>
  <Paragraphs>307</Paragraphs>
  <Slides>44</Slides>
  <Notes>39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Aptos Display</vt:lpstr>
      <vt:lpstr>Arial</vt:lpstr>
      <vt:lpstr>Office Theme</vt:lpstr>
      <vt:lpstr>Thesis status December</vt:lpstr>
      <vt:lpstr>Overview</vt:lpstr>
      <vt:lpstr>Motivation</vt:lpstr>
      <vt:lpstr>Research Gap</vt:lpstr>
      <vt:lpstr>Definition Hallucination</vt:lpstr>
      <vt:lpstr>Preliminaries: CLD generation</vt:lpstr>
      <vt:lpstr>Research Questions</vt:lpstr>
      <vt:lpstr>PowerPoint Presentation</vt:lpstr>
      <vt:lpstr>RQ1a: Judge description </vt:lpstr>
      <vt:lpstr>RQ1a: Experimental overview</vt:lpstr>
      <vt:lpstr>Formulation experiments results</vt:lpstr>
      <vt:lpstr>Results RQ1a: Correctness Judge vs. Synthetic Corruption</vt:lpstr>
      <vt:lpstr>Results RQ1a: Correctness Judge vs. Lit. Ground Truth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LLM-as-a-corrector</vt:lpstr>
      <vt:lpstr>RQ1b: Experimental overview</vt:lpstr>
      <vt:lpstr>PowerPoint Presentation</vt:lpstr>
      <vt:lpstr>PowerPoint Presentation</vt:lpstr>
      <vt:lpstr>PowerPoint Presentation</vt:lpstr>
      <vt:lpstr>Definition Generator Logit Metrics</vt:lpstr>
      <vt:lpstr>Definition Generator Logit Metrics</vt:lpstr>
      <vt:lpstr>RQ2: Experimental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</vt:lpstr>
      <vt:lpstr>RQ 3 alternative: Deep Research system</vt:lpstr>
      <vt:lpstr>RQ3: Deep Research system Results</vt:lpstr>
      <vt:lpstr>Discussion</vt:lpstr>
      <vt:lpstr>Limitations</vt:lpstr>
      <vt:lpstr>Appendix &amp; Misc results</vt:lpstr>
      <vt:lpstr>Generator Tempertaure</vt:lpstr>
      <vt:lpstr>PowerPoint Presentation</vt:lpstr>
      <vt:lpstr>Formulation experiments results</vt:lpstr>
      <vt:lpstr>Node prompt ablation study</vt:lpstr>
      <vt:lpstr>Edge ablation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Nitai Nijholt</dc:creator>
  <cp:lastModifiedBy>Nitai Nijholt</cp:lastModifiedBy>
  <cp:revision>66</cp:revision>
  <dcterms:created xsi:type="dcterms:W3CDTF">2024-10-28T21:18:30Z</dcterms:created>
  <dcterms:modified xsi:type="dcterms:W3CDTF">2025-12-04T02:27:48Z</dcterms:modified>
</cp:coreProperties>
</file>